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82" r:id="rId4"/>
    <p:sldId id="258" r:id="rId5"/>
    <p:sldId id="259" r:id="rId6"/>
    <p:sldId id="289" r:id="rId7"/>
    <p:sldId id="260" r:id="rId8"/>
    <p:sldId id="288" r:id="rId9"/>
    <p:sldId id="267" r:id="rId10"/>
    <p:sldId id="262" r:id="rId11"/>
    <p:sldId id="263" r:id="rId12"/>
    <p:sldId id="295" r:id="rId13"/>
    <p:sldId id="293" r:id="rId14"/>
    <p:sldId id="294" r:id="rId15"/>
    <p:sldId id="296" r:id="rId16"/>
    <p:sldId id="297" r:id="rId17"/>
    <p:sldId id="298" r:id="rId18"/>
    <p:sldId id="292" r:id="rId19"/>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12FC6E-08AA-4A14-983D-E9D0A401A263}" v="1" dt="2025-06-30T18:35:18.3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5" d="100"/>
          <a:sy n="85" d="100"/>
        </p:scale>
        <p:origin x="291" y="51"/>
      </p:cViewPr>
      <p:guideLst>
        <p:guide orient="horz" pos="2160"/>
        <p:guide pos="3840"/>
      </p:guideLst>
    </p:cSldViewPr>
  </p:slideViewPr>
  <p:notesTextViewPr>
    <p:cViewPr>
      <p:scale>
        <a:sx n="1" d="1"/>
        <a:sy n="1" d="1"/>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F395FB5B-B995-4ACE-9B50-70176FD534C9}" type="datetimeFigureOut">
              <a:rPr kumimoji="0" lang="en-IN" sz="1200" b="0" i="0" u="none" strike="noStrike" kern="1200" cap="none" spc="0" normalizeH="0" baseline="0" noProof="0">
                <a:ln>
                  <a:noFill/>
                </a:ln>
                <a:solidFill>
                  <a:schemeClr val="tx1"/>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IN" altLang="en-US" sz="1200" dirty="0"/>
              <a:t>‹#›</a:t>
            </a:fld>
            <a:endParaRPr lang="en-IN" altLang="en-US" sz="1200" dirty="0"/>
          </a:p>
        </p:txBody>
      </p:sp>
    </p:spTree>
    <p:extLst>
      <p:ext uri="{BB962C8B-B14F-4D97-AF65-F5344CB8AC3E}">
        <p14:creationId xmlns:p14="http://schemas.microsoft.com/office/powerpoint/2010/main" val="91770067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4" name="Rectangle 1"/>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
        <p:nvSpPr>
          <p:cNvPr id="5" name="Rectangle 2"/>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schemeClr val="tx1"/>
                </a:solidFill>
                <a:effectLst/>
                <a:uLnTx/>
                <a:uFillTx/>
                <a:latin typeface="+mn-lt"/>
                <a:ea typeface="+mn-ea"/>
                <a:cs typeface="+mn-cs"/>
              </a:rPr>
              <a:t>MRCET | Department of Emerging Technologies | Application Development-II PPT| III Year </a:t>
            </a:r>
            <a:r>
              <a:rPr kumimoji="0" lang="en-IN" sz="1800" b="0" i="0" u="none" strike="noStrike" kern="1200" cap="none" spc="0" normalizeH="0" baseline="0" noProof="0" dirty="0" err="1">
                <a:ln>
                  <a:noFill/>
                </a:ln>
                <a:solidFill>
                  <a:schemeClr val="tx1"/>
                </a:solidFill>
                <a:effectLst/>
                <a:uLnTx/>
                <a:uFillTx/>
                <a:latin typeface="+mn-lt"/>
                <a:ea typeface="+mn-ea"/>
                <a:cs typeface="+mn-cs"/>
              </a:rPr>
              <a:t>B.Tech</a:t>
            </a:r>
            <a:r>
              <a:rPr kumimoji="0" lang="en-IN" sz="1800" b="0" i="0" u="none" strike="noStrike" kern="1200" cap="none" spc="0" normalizeH="0" baseline="0" noProof="0" dirty="0">
                <a:ln>
                  <a:noFill/>
                </a:ln>
                <a:solidFill>
                  <a:schemeClr val="tx1"/>
                </a:solidFill>
                <a:effectLst/>
                <a:uLnTx/>
                <a:uFillTx/>
                <a:latin typeface="+mn-lt"/>
                <a:ea typeface="+mn-ea"/>
                <a:cs typeface="+mn-cs"/>
              </a:rPr>
              <a:t>-II Semester</a:t>
            </a:r>
          </a:p>
        </p:txBody>
      </p:sp>
      <p:pic>
        <p:nvPicPr>
          <p:cNvPr id="2055" name="Picture 11"/>
          <p:cNvPicPr>
            <a:picLocks noChangeAspect="1"/>
          </p:cNvPicPr>
          <p:nvPr userDrawn="1"/>
        </p:nvPicPr>
        <p:blipFill>
          <a:blip r:embed="rId2"/>
          <a:stretch>
            <a:fillRect/>
          </a:stretch>
        </p:blipFill>
        <p:spPr>
          <a:xfrm>
            <a:off x="11353800" y="0"/>
            <a:ext cx="822325" cy="822325"/>
          </a:xfrm>
          <a:prstGeom prst="rect">
            <a:avLst/>
          </a:prstGeom>
          <a:noFill/>
          <a:ln w="9525">
            <a:noFill/>
          </a:ln>
        </p:spPr>
      </p:pic>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noProof="1"/>
              <a:t>Click to edit Master title style</a:t>
            </a:r>
            <a:endParaRPr lang="en-IN"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Click to edit Master subtitle style</a:t>
            </a:r>
            <a:endParaRPr lang="en-IN" noProof="1"/>
          </a:p>
        </p:txBody>
      </p:sp>
      <p:sp>
        <p:nvSpPr>
          <p:cNvPr id="10"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49A97F5-51D5-48C9-A04B-694D7E97DD5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Slide Number Placeholder 5"/>
          <p:cNvSpPr>
            <a:spLocks noGrp="1"/>
          </p:cNvSpPr>
          <p:nvPr>
            <p:ph type="sldNum" sz="quarter" idx="4"/>
          </p:nvPr>
        </p:nvSpPr>
        <p:spPr>
          <a:xfrm>
            <a:off x="9067800" y="6176963"/>
            <a:ext cx="2743200" cy="365125"/>
          </a:xfrm>
          <a:prstGeom prst="rect">
            <a:avLst/>
          </a:prstGeom>
        </p:spPr>
        <p:txBody>
          <a:bodyPr vert="horz" wrap="square" lIns="91440" tIns="45720" rIns="91440" bIns="45720" numCol="1" anchor="ctr" anchorCtr="0" compatLnSpc="1"/>
          <a:lstStyle/>
          <a:p>
            <a:pPr algn="r" eaLnBrk="1" hangingPunct="1">
              <a:buNone/>
            </a:pPr>
            <a:fld id="{9A0DB2DC-4C9A-4742-B13C-FB6460FD3503}" type="slidenum">
              <a:rPr lang="en-IN" altLang="en-US" dirty="0"/>
              <a:t>‹#›</a:t>
            </a:fld>
            <a:endParaRPr lang="en-I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idx="1"/>
          </p:nvPr>
        </p:nvSpPr>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noProof="1"/>
              <a:t>Click to edit Master title style</a:t>
            </a:r>
            <a:endParaRPr lang="en-IN"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sz="half" idx="1"/>
          </p:nvPr>
        </p:nvSpPr>
        <p:spPr>
          <a:xfrm>
            <a:off x="838200" y="1825625"/>
            <a:ext cx="5181600" cy="435133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Content Placeholder 3"/>
          <p:cNvSpPr>
            <a:spLocks noGrp="1"/>
          </p:cNvSpPr>
          <p:nvPr>
            <p:ph sz="half" idx="2"/>
          </p:nvPr>
        </p:nvSpPr>
        <p:spPr>
          <a:xfrm>
            <a:off x="6172200" y="1825625"/>
            <a:ext cx="5181600" cy="435133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noProof="1"/>
              <a:t>Click to edit Master title style</a:t>
            </a:r>
            <a:endParaRPr lang="en-IN"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Vertical Text Placeholder 2"/>
          <p:cNvSpPr>
            <a:spLocks noGrp="1"/>
          </p:cNvSpPr>
          <p:nvPr>
            <p:ph type="body" orient="vert" idx="1"/>
          </p:nvPr>
        </p:nvSpPr>
        <p:spPr/>
        <p:txBody>
          <a:bodyPr vert="eaVert"/>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noProof="1"/>
              <a:t>Click to edit Master title style</a:t>
            </a:r>
            <a:endParaRPr lang="en-IN"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1027" name="Text Placeholder 2"/>
          <p:cNvSpPr>
            <a:spLocks noGrp="1"/>
          </p:cNvSpPr>
          <p:nvPr>
            <p:ph type="body"/>
          </p:nvPr>
        </p:nvSpPr>
        <p:spPr>
          <a:xfrm>
            <a:off x="838200" y="1825625"/>
            <a:ext cx="10515600" cy="4351338"/>
          </a:xfrm>
          <a:prstGeom prst="rect">
            <a:avLst/>
          </a:prstGeom>
          <a:noFill/>
          <a:ln w="9525">
            <a:noFill/>
          </a:ln>
        </p:spPr>
        <p:txBody>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9067800" y="6176963"/>
            <a:ext cx="2743200" cy="365125"/>
          </a:xfrm>
          <a:prstGeom prst="rect">
            <a:avLst/>
          </a:prstGeom>
        </p:spPr>
        <p:txBody>
          <a:bodyPr vert="horz" wrap="square" lIns="91440" tIns="45720" rIns="91440" bIns="45720" numCol="1" anchor="ctr" anchorCtr="0" compatLnSpc="1"/>
          <a:lstStyle>
            <a:lvl1pPr algn="r">
              <a:defRPr sz="1200" b="1">
                <a:solidFill>
                  <a:srgbClr val="C00000"/>
                </a:solidFill>
              </a:defRPr>
            </a:lvl1p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
        <p:nvSpPr>
          <p:cNvPr id="7" name="Rectangle 6"/>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ectangle 7"/>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schemeClr val="tx1"/>
                </a:solidFill>
                <a:effectLst/>
                <a:uLnTx/>
                <a:uFillTx/>
                <a:latin typeface="+mn-lt"/>
                <a:ea typeface="+mn-ea"/>
                <a:cs typeface="+mn-cs"/>
              </a:rPr>
              <a:t>MRCET | Department of Emerging Technologies | Application Development-II PPT| III Year </a:t>
            </a:r>
            <a:r>
              <a:rPr kumimoji="0" lang="en-IN" sz="1800" b="0" i="0" u="none" strike="noStrike" kern="1200" cap="none" spc="0" normalizeH="0" baseline="0" noProof="0" dirty="0" err="1">
                <a:ln>
                  <a:noFill/>
                </a:ln>
                <a:solidFill>
                  <a:schemeClr val="tx1"/>
                </a:solidFill>
                <a:effectLst/>
                <a:uLnTx/>
                <a:uFillTx/>
                <a:latin typeface="+mn-lt"/>
                <a:ea typeface="+mn-ea"/>
                <a:cs typeface="+mn-cs"/>
              </a:rPr>
              <a:t>B.Tech</a:t>
            </a:r>
            <a:r>
              <a:rPr kumimoji="0" lang="en-IN" sz="1800" b="0" i="0" u="none" strike="noStrike" kern="1200" cap="none" spc="0" normalizeH="0" baseline="0" noProof="0" dirty="0">
                <a:ln>
                  <a:noFill/>
                </a:ln>
                <a:solidFill>
                  <a:schemeClr val="tx1"/>
                </a:solidFill>
                <a:effectLst/>
                <a:uLnTx/>
                <a:uFillTx/>
                <a:latin typeface="+mn-lt"/>
                <a:ea typeface="+mn-ea"/>
                <a:cs typeface="+mn-cs"/>
              </a:rPr>
              <a:t>-II Semester</a:t>
            </a:r>
          </a:p>
        </p:txBody>
      </p:sp>
      <p:pic>
        <p:nvPicPr>
          <p:cNvPr id="1033" name="Picture 8"/>
          <p:cNvPicPr>
            <a:picLocks noChangeAspect="1"/>
          </p:cNvPicPr>
          <p:nvPr userDrawn="1"/>
        </p:nvPicPr>
        <p:blipFill>
          <a:blip r:embed="rId13"/>
          <a:stretch>
            <a:fillRect/>
          </a:stretch>
        </p:blipFill>
        <p:spPr>
          <a:xfrm>
            <a:off x="11353800" y="0"/>
            <a:ext cx="822325" cy="822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1"/>
          <p:cNvSpPr>
            <a:spLocks noGrp="1"/>
          </p:cNvSpPr>
          <p:nvPr>
            <p:ph type="ctrTitle"/>
          </p:nvPr>
        </p:nvSpPr>
        <p:spPr>
          <a:xfrm>
            <a:off x="1708150" y="420688"/>
            <a:ext cx="9191625" cy="1016000"/>
          </a:xfrm>
        </p:spPr>
        <p:txBody>
          <a:bodyPr vert="horz" wrap="square" lIns="91440" tIns="45720" rIns="91440" bIns="45720" anchor="b" anchorCtr="0"/>
          <a:lstStyle/>
          <a:p>
            <a:pPr eaLnBrk="1" hangingPunct="1">
              <a:buClrTx/>
              <a:buSzTx/>
              <a:buFontTx/>
            </a:pPr>
            <a:r>
              <a:rPr lang="en-US" altLang="en-US" sz="2800" b="1" kern="1200" dirty="0">
                <a:solidFill>
                  <a:srgbClr val="2F5496"/>
                </a:solidFill>
                <a:latin typeface="Calibri" panose="020F0502020204030204" pitchFamily="34" charset="0"/>
                <a:ea typeface="+mj-ea"/>
                <a:cs typeface="Calibri" panose="020F0502020204030204" pitchFamily="34" charset="0"/>
              </a:rPr>
              <a:t>MALLA REDDY COLLEGE OF ENGINEERING &amp; TECHNOLOGY</a:t>
            </a:r>
            <a:br>
              <a:rPr lang="en-US" altLang="en-US" sz="2800" kern="1200" dirty="0">
                <a:latin typeface="Calibri" panose="020F0502020204030204" pitchFamily="34" charset="0"/>
                <a:ea typeface="+mj-ea"/>
                <a:cs typeface="+mj-cs"/>
              </a:rPr>
            </a:br>
            <a:r>
              <a:rPr lang="en-US" altLang="en-US" sz="1400" b="1" kern="1200" dirty="0">
                <a:latin typeface="Calibri" panose="020F0502020204030204" pitchFamily="34" charset="0"/>
                <a:ea typeface="+mj-ea"/>
                <a:cs typeface="Calibri" panose="020F0502020204030204" pitchFamily="34" charset="0"/>
              </a:rPr>
              <a:t>(AUTONOMUS INSTITUTION –UGC, GOVT. OF INDIA)</a:t>
            </a:r>
            <a:br>
              <a:rPr lang="en-US" altLang="en-US" sz="1400" kern="1200" dirty="0">
                <a:latin typeface="Calibri" panose="020F0502020204030204" pitchFamily="34" charset="0"/>
                <a:ea typeface="+mj-ea"/>
                <a:cs typeface="+mj-cs"/>
              </a:rPr>
            </a:br>
            <a:r>
              <a:rPr lang="en-US" altLang="en-US" sz="1400" b="1" kern="1200" dirty="0">
                <a:latin typeface="Calibri" panose="020F0502020204030204" pitchFamily="34" charset="0"/>
                <a:ea typeface="+mj-ea"/>
                <a:cs typeface="Calibri" panose="020F0502020204030204" pitchFamily="34" charset="0"/>
              </a:rPr>
              <a:t>Affiliated to JNTUH; Approved by AICTE, NBA-Tier 1 &amp; NAAC with A-GRADE| ISO 9001:2015</a:t>
            </a:r>
            <a:endParaRPr lang="en-US" altLang="en-IN" sz="2000" b="1" kern="1200" dirty="0">
              <a:latin typeface="Calibri" panose="020F0502020204030204" pitchFamily="34" charset="0"/>
              <a:ea typeface="+mj-ea"/>
              <a:cs typeface="+mj-cs"/>
            </a:endParaRPr>
          </a:p>
        </p:txBody>
      </p:sp>
      <p:sp>
        <p:nvSpPr>
          <p:cNvPr id="4100" name="Slide Number Placeholder 3"/>
          <p:cNvSpPr txBox="1">
            <a:spLocks noGrp="1"/>
          </p:cNvSpPr>
          <p:nvPr>
            <p:ph type="sldNum" sz="quarter" idx="4"/>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a:t>
            </a:fld>
            <a:endParaRPr lang="en-IN" altLang="en-US" sz="1200" b="1" dirty="0">
              <a:solidFill>
                <a:srgbClr val="C00000"/>
              </a:solidFill>
            </a:endParaRPr>
          </a:p>
        </p:txBody>
      </p:sp>
      <p:sp>
        <p:nvSpPr>
          <p:cNvPr id="5"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a:t>
            </a:r>
            <a:r>
              <a:rPr kumimoji="0" lang="en-IN" sz="1600" b="1" i="0" u="none" strike="noStrike" kern="1200" cap="none" spc="0" normalizeH="0" noProof="0" dirty="0">
                <a:ln>
                  <a:noFill/>
                </a:ln>
                <a:solidFill>
                  <a:schemeClr val="tx1"/>
                </a:solidFill>
                <a:effectLst/>
                <a:uLnTx/>
                <a:uFillTx/>
                <a:latin typeface="Arial Rounded MT Bold" pitchFamily="34" charset="0"/>
                <a:ea typeface="+mn-ea"/>
                <a:cs typeface="+mn-cs"/>
              </a:rPr>
              <a:t> </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Sem | Dept of Computational Intelligence| Mini Project | Project Review - 1</a:t>
            </a:r>
          </a:p>
        </p:txBody>
      </p:sp>
      <p:pic>
        <p:nvPicPr>
          <p:cNvPr id="4102" name="Picture 5"/>
          <p:cNvPicPr>
            <a:picLocks noChangeAspect="1"/>
          </p:cNvPicPr>
          <p:nvPr/>
        </p:nvPicPr>
        <p:blipFill>
          <a:blip r:embed="rId2"/>
          <a:stretch>
            <a:fillRect/>
          </a:stretch>
        </p:blipFill>
        <p:spPr>
          <a:xfrm>
            <a:off x="301625" y="265113"/>
            <a:ext cx="1452563" cy="1452562"/>
          </a:xfrm>
          <a:prstGeom prst="rect">
            <a:avLst/>
          </a:prstGeom>
          <a:noFill/>
          <a:ln w="9525">
            <a:noFill/>
          </a:ln>
        </p:spPr>
      </p:pic>
      <p:sp>
        <p:nvSpPr>
          <p:cNvPr id="7"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8" name="Rectangle 7"/>
          <p:cNvSpPr/>
          <p:nvPr/>
        </p:nvSpPr>
        <p:spPr>
          <a:xfrm>
            <a:off x="11261725" y="269875"/>
            <a:ext cx="914400" cy="5508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4105" name="Picture 9"/>
          <p:cNvPicPr>
            <a:picLocks noChangeAspect="1"/>
          </p:cNvPicPr>
          <p:nvPr/>
        </p:nvPicPr>
        <p:blipFill>
          <a:blip r:embed="rId3"/>
          <a:stretch>
            <a:fillRect/>
          </a:stretch>
        </p:blipFill>
        <p:spPr>
          <a:xfrm>
            <a:off x="10545763" y="265113"/>
            <a:ext cx="1571625" cy="1573212"/>
          </a:xfrm>
          <a:prstGeom prst="rect">
            <a:avLst/>
          </a:prstGeom>
          <a:noFill/>
          <a:ln w="9525">
            <a:noFill/>
          </a:ln>
        </p:spPr>
      </p:pic>
      <p:sp>
        <p:nvSpPr>
          <p:cNvPr id="6" name="Subtitle 2">
            <a:extLst>
              <a:ext uri="{FF2B5EF4-FFF2-40B4-BE49-F238E27FC236}">
                <a16:creationId xmlns:a16="http://schemas.microsoft.com/office/drawing/2014/main" id="{1B0F5485-7EA3-C59F-113F-97CCDAA502B4}"/>
              </a:ext>
            </a:extLst>
          </p:cNvPr>
          <p:cNvSpPr>
            <a:spLocks noGrp="1"/>
          </p:cNvSpPr>
          <p:nvPr>
            <p:ph type="subTitle" idx="1"/>
          </p:nvPr>
        </p:nvSpPr>
        <p:spPr>
          <a:xfrm>
            <a:off x="1611313" y="1717675"/>
            <a:ext cx="9385300" cy="4875213"/>
          </a:xfrm>
        </p:spPr>
        <p:txBody>
          <a:bodyPr vert="horz" wrap="square" lIns="91440" tIns="45720" rIns="91440" bIns="45720" numCol="1" anchor="t" anchorCtr="0" compatLnSpc="1">
            <a:noAutofit/>
          </a:bodyPr>
          <a:lstStyle/>
          <a:p>
            <a:pPr lvl="0" eaLnBrk="1" hangingPunct="1">
              <a:defRPr/>
            </a:pPr>
            <a:r>
              <a:rPr lang="en-US" altLang="en-US" b="1" dirty="0">
                <a:solidFill>
                  <a:schemeClr val="accent6"/>
                </a:solidFill>
                <a:latin typeface="Times New Roman" panose="02020603050405020304" pitchFamily="18" charset="0"/>
                <a:cs typeface="Times New Roman" panose="02020603050405020304" pitchFamily="18" charset="0"/>
              </a:rPr>
              <a:t>Deep Learning-Powered Railway Track Detection using Residual Network (</a:t>
            </a:r>
            <a:r>
              <a:rPr lang="en-US" altLang="en-US" b="1" dirty="0" err="1">
                <a:solidFill>
                  <a:schemeClr val="accent6"/>
                </a:solidFill>
                <a:latin typeface="Times New Roman" panose="02020603050405020304" pitchFamily="18" charset="0"/>
                <a:cs typeface="Times New Roman" panose="02020603050405020304" pitchFamily="18" charset="0"/>
              </a:rPr>
              <a:t>ResNet</a:t>
            </a:r>
            <a:r>
              <a:rPr lang="en-US" altLang="en-US" b="1">
                <a:solidFill>
                  <a:schemeClr val="accent6"/>
                </a:solidFill>
                <a:latin typeface="Times New Roman" panose="02020603050405020304" pitchFamily="18" charset="0"/>
                <a:cs typeface="Times New Roman" panose="02020603050405020304" pitchFamily="18" charset="0"/>
              </a:rPr>
              <a:t>)</a:t>
            </a:r>
            <a:endParaRPr lang="en-US" altLang="en-US" b="1" dirty="0">
              <a:solidFill>
                <a:schemeClr val="accent6"/>
              </a:solidFill>
              <a:latin typeface="Times New Roman" panose="02020603050405020304" pitchFamily="18" charset="0"/>
              <a:cs typeface="Times New Roman" panose="02020603050405020304" pitchFamily="18" charset="0"/>
            </a:endParaRPr>
          </a:p>
          <a:p>
            <a:pPr lvl="0" eaLnBrk="1" hangingPunct="1">
              <a:defRPr/>
            </a:pPr>
            <a:r>
              <a:rPr kumimoji="0" lang="en-IN" altLang="en-US" sz="2400" b="1" i="0" u="sng"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Team Members</a:t>
            </a:r>
          </a:p>
          <a:p>
            <a:pPr lvl="0" eaLnBrk="1" hangingPunct="1">
              <a:lnSpc>
                <a:spcPct val="50000"/>
              </a:lnSpc>
              <a:defRPr/>
            </a:pPr>
            <a:r>
              <a:rPr kumimoji="0" lang="en-US" altLang="en-IN"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1.</a:t>
            </a:r>
            <a:r>
              <a:rPr lang="en-IN" b="1" dirty="0">
                <a:latin typeface="Times New Roman" panose="02020603050405020304" pitchFamily="18" charset="0"/>
                <a:cs typeface="Times New Roman" panose="02020603050405020304" pitchFamily="18" charset="0"/>
              </a:rPr>
              <a:t> G.THAPASWINI REDDY  </a:t>
            </a:r>
            <a:r>
              <a:rPr lang="en-IN" altLang="en-US" b="1" dirty="0">
                <a:latin typeface="Times New Roman" panose="02020603050405020304" pitchFamily="18" charset="0"/>
                <a:cs typeface="Times New Roman" panose="02020603050405020304" pitchFamily="18" charset="0"/>
              </a:rPr>
              <a:t>–   22N31A7314</a:t>
            </a:r>
          </a:p>
          <a:p>
            <a:pPr lvl="0" eaLnBrk="1" hangingPunct="1">
              <a:lnSpc>
                <a:spcPct val="50000"/>
              </a:lnSpc>
              <a:defRPr/>
            </a:pPr>
            <a:r>
              <a:rPr kumimoji="0" lang="en-US" altLang="en-IN"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2.</a:t>
            </a:r>
            <a:r>
              <a:rPr lang="en-IN" b="1" dirty="0">
                <a:latin typeface="Times New Roman" panose="02020603050405020304" pitchFamily="18" charset="0"/>
                <a:cs typeface="Times New Roman" panose="02020603050405020304" pitchFamily="18" charset="0"/>
              </a:rPr>
              <a:t> J. SAI VIGNESH                 </a:t>
            </a:r>
            <a:r>
              <a:rPr lang="en-IN" altLang="en-US" b="1" dirty="0">
                <a:latin typeface="Times New Roman" panose="02020603050405020304" pitchFamily="18" charset="0"/>
                <a:cs typeface="Times New Roman" panose="02020603050405020304" pitchFamily="18" charset="0"/>
              </a:rPr>
              <a:t>–  22N31A7320</a:t>
            </a:r>
            <a:endParaRPr kumimoji="0" lang="en-US" altLang="en-IN"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0" marR="0" lvl="0" indent="0" defTabSz="914400" rtl="0" eaLnBrk="1" fontAlgn="base" latinLnBrk="0" hangingPunct="1">
              <a:lnSpc>
                <a:spcPct val="50000"/>
              </a:lnSpc>
              <a:spcBef>
                <a:spcPts val="1000"/>
              </a:spcBef>
              <a:spcAft>
                <a:spcPct val="0"/>
              </a:spcAft>
              <a:buClrTx/>
              <a:buSzTx/>
              <a:buFont typeface="Calibri Light" panose="020F0302020204030204" pitchFamily="34" charset="0"/>
              <a:buNone/>
              <a:defRPr/>
            </a:pPr>
            <a:r>
              <a:rPr kumimoji="0" lang="en-US" altLang="en-IN"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3.</a:t>
            </a:r>
            <a:r>
              <a:rPr lang="en-IN" b="1" dirty="0">
                <a:latin typeface="Times New Roman" panose="02020603050405020304" pitchFamily="18" charset="0"/>
                <a:cs typeface="Times New Roman" panose="02020603050405020304" pitchFamily="18" charset="0"/>
              </a:rPr>
              <a:t> K.PURNA HARINI             </a:t>
            </a:r>
            <a:r>
              <a:rPr kumimoji="0" lang="en-IN" altLang="en-US"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2</a:t>
            </a:r>
            <a:r>
              <a:rPr kumimoji="0" lang="en-US" altLang="en-IN"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2</a:t>
            </a:r>
            <a:r>
              <a:rPr kumimoji="0" lang="en-IN" altLang="en-US"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N31A</a:t>
            </a:r>
            <a:r>
              <a:rPr lang="en-US" altLang="en-US" b="1" dirty="0">
                <a:latin typeface="Times New Roman" panose="02020603050405020304" pitchFamily="18" charset="0"/>
                <a:cs typeface="Times New Roman" panose="02020603050405020304" pitchFamily="18" charset="0"/>
              </a:rPr>
              <a:t>7326</a:t>
            </a:r>
            <a:endParaRPr kumimoji="0" lang="en-US" altLang="en-IN"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50000"/>
              </a:lnSpc>
              <a:spcBef>
                <a:spcPts val="1000"/>
              </a:spcBef>
              <a:spcAft>
                <a:spcPct val="0"/>
              </a:spcAft>
              <a:buClrTx/>
              <a:buSzTx/>
              <a:buFont typeface="Calibri Light" panose="020F0302020204030204" pitchFamily="34" charset="0"/>
              <a:buNone/>
              <a:defRPr/>
            </a:pPr>
            <a:endParaRPr kumimoji="0" lang="en-US" altLang="en-IN"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90000"/>
              </a:lnSpc>
              <a:spcBef>
                <a:spcPts val="1000"/>
              </a:spcBef>
              <a:spcAft>
                <a:spcPct val="0"/>
              </a:spcAft>
              <a:buClrTx/>
              <a:buSzTx/>
              <a:buFont typeface="Calibri Light" panose="020F0302020204030204" pitchFamily="34" charset="0"/>
              <a:buNone/>
              <a:defRPr/>
            </a:pPr>
            <a:r>
              <a:rPr kumimoji="0" lang="en-IN" altLang="en-US" sz="24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IV Year </a:t>
            </a:r>
            <a:r>
              <a:rPr kumimoji="0" lang="en-IN" altLang="en-US" sz="24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B.Tech</a:t>
            </a:r>
            <a:r>
              <a:rPr kumimoji="0" lang="en-IN" altLang="en-US" sz="24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lang="en-IN" altLang="en-US" dirty="0">
                <a:latin typeface="Times New Roman" panose="02020603050405020304" pitchFamily="18" charset="0"/>
                <a:cs typeface="Times New Roman" panose="02020603050405020304" pitchFamily="18" charset="0"/>
              </a:rPr>
              <a:t>II</a:t>
            </a:r>
            <a:r>
              <a:rPr kumimoji="0" lang="en-IN" altLang="en-US" sz="24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Semester – </a:t>
            </a:r>
            <a:r>
              <a:rPr lang="en-IN" altLang="en-US" dirty="0">
                <a:latin typeface="Times New Roman" panose="02020603050405020304" pitchFamily="18" charset="0"/>
                <a:cs typeface="Times New Roman" panose="02020603050405020304" pitchFamily="18" charset="0"/>
              </a:rPr>
              <a:t>B. TECH</a:t>
            </a:r>
            <a:r>
              <a:rPr kumimoji="0" lang="en-IN" alt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 (</a:t>
            </a:r>
            <a:r>
              <a:rPr kumimoji="0" lang="en-US" altLang="en-IN"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AIML</a:t>
            </a:r>
            <a:r>
              <a:rPr kumimoji="0" lang="en-IN" alt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t>
            </a:r>
          </a:p>
          <a:p>
            <a:pPr marL="0" marR="0" lvl="0" indent="0" algn="ctr" defTabSz="914400" rtl="0" eaLnBrk="1" fontAlgn="base" latinLnBrk="0" hangingPunct="1">
              <a:lnSpc>
                <a:spcPct val="90000"/>
              </a:lnSpc>
              <a:spcBef>
                <a:spcPts val="1000"/>
              </a:spcBef>
              <a:spcAft>
                <a:spcPct val="0"/>
              </a:spcAft>
              <a:buClrTx/>
              <a:buSzTx/>
              <a:buFont typeface="Calibri Light" panose="020F0302020204030204" pitchFamily="34" charset="0"/>
              <a:buNone/>
              <a:defRPr/>
            </a:pPr>
            <a:endParaRPr kumimoji="0" lang="en-IN" altLang="en-US" sz="24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50000"/>
              </a:lnSpc>
              <a:spcBef>
                <a:spcPts val="1000"/>
              </a:spcBef>
              <a:spcAft>
                <a:spcPct val="0"/>
              </a:spcAft>
              <a:buClrTx/>
              <a:buSzTx/>
              <a:buFont typeface="Arial" panose="020B0604020202020204" pitchFamily="34" charset="0"/>
              <a:buNone/>
              <a:defRPr/>
            </a:pPr>
            <a:r>
              <a:rPr kumimoji="0" lang="en-US" altLang="en-IN"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Under the Guidance of</a:t>
            </a:r>
            <a:r>
              <a:rPr kumimoji="0" lang="en-US" altLang="en-I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p>
          <a:p>
            <a:pPr marL="0" marR="0" lvl="0" indent="0" algn="ctr" defTabSz="914400" rtl="0" eaLnBrk="1" fontAlgn="base" latinLnBrk="0" hangingPunct="1">
              <a:lnSpc>
                <a:spcPct val="50000"/>
              </a:lnSpc>
              <a:spcBef>
                <a:spcPts val="1000"/>
              </a:spcBef>
              <a:spcAft>
                <a:spcPct val="0"/>
              </a:spcAft>
              <a:buClrTx/>
              <a:buSzTx/>
              <a:buFont typeface="Arial" panose="020B0604020202020204" pitchFamily="34" charset="0"/>
              <a:buNone/>
              <a:defRPr/>
            </a:pPr>
            <a:r>
              <a:rPr lang="en-US" sz="2400" b="1" dirty="0">
                <a:solidFill>
                  <a:srgbClr val="FF0000"/>
                </a:solidFill>
                <a:latin typeface="Times New Roman" panose="02020603050405020304" pitchFamily="18" charset="0"/>
                <a:cs typeface="Times New Roman" panose="02020603050405020304" pitchFamily="18" charset="0"/>
              </a:rPr>
              <a:t>Dr. </a:t>
            </a:r>
            <a:r>
              <a:rPr lang="en-US" b="1" dirty="0">
                <a:solidFill>
                  <a:srgbClr val="FF0000"/>
                </a:solidFill>
                <a:latin typeface="Times New Roman" panose="02020603050405020304" pitchFamily="18" charset="0"/>
                <a:cs typeface="Times New Roman" panose="02020603050405020304" pitchFamily="18" charset="0"/>
              </a:rPr>
              <a:t>T</a:t>
            </a:r>
            <a:r>
              <a:rPr lang="en-US" sz="2400" b="1"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Siva Ratna Sai</a:t>
            </a:r>
            <a:endParaRPr lang="en-US" sz="2400" b="1" dirty="0">
              <a:solidFill>
                <a:srgbClr val="FF0000"/>
              </a:solidFill>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50000"/>
              </a:lnSpc>
              <a:spcBef>
                <a:spcPts val="1000"/>
              </a:spcBef>
              <a:spcAft>
                <a:spcPct val="0"/>
              </a:spcAft>
              <a:buClrTx/>
              <a:buSzTx/>
              <a:buFont typeface="Arial" panose="020B0604020202020204" pitchFamily="34" charset="0"/>
              <a:buNone/>
              <a:defRPr/>
            </a:pPr>
            <a:r>
              <a:rPr kumimoji="0" lang="en-US" altLang="en-IN" sz="24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Associate </a:t>
            </a:r>
            <a:r>
              <a:rPr kumimoji="0" lang="en-IN" altLang="en-US" sz="24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Professor </a:t>
            </a:r>
            <a:endParaRPr kumimoji="0" lang="en-US" altLang="en-I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0835"/>
            <a:ext cx="10515600" cy="567690"/>
          </a:xfrm>
        </p:spPr>
        <p:txBody>
          <a:bodyPr vert="horz" wrap="square" lIns="91440" tIns="45720" rIns="91440" bIns="45720" numCol="1" rtlCol="0" anchor="ctr" anchorCtr="0" compatLnSpc="1">
            <a:no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000" b="1" i="0" u="none" strike="noStrike" kern="1200" cap="none" spc="0" normalizeH="0" baseline="0" noProof="0" dirty="0">
                <a:ln>
                  <a:noFill/>
                </a:ln>
                <a:solidFill>
                  <a:srgbClr val="00B0F0"/>
                </a:solidFill>
                <a:effectLst/>
                <a:uLnTx/>
                <a:uFillTx/>
                <a:latin typeface="Times New Roman" panose="02020603050405020304" pitchFamily="18" charset="0"/>
                <a:ea typeface="+mj-ea"/>
                <a:cs typeface="Times New Roman" panose="02020603050405020304" pitchFamily="18" charset="0"/>
              </a:rPr>
              <a:t>Agenda</a:t>
            </a:r>
          </a:p>
        </p:txBody>
      </p:sp>
      <p:sp>
        <p:nvSpPr>
          <p:cNvPr id="5123" name="Content Placeholder 2"/>
          <p:cNvSpPr>
            <a:spLocks noGrp="1"/>
          </p:cNvSpPr>
          <p:nvPr>
            <p:ph idx="1"/>
          </p:nvPr>
        </p:nvSpPr>
        <p:spPr>
          <a:xfrm>
            <a:off x="776605" y="897890"/>
            <a:ext cx="10405110" cy="5351145"/>
          </a:xfrm>
        </p:spPr>
        <p:txBody>
          <a:bodyPr vert="horz" wrap="square" lIns="91440" tIns="45720" rIns="91440" bIns="45720" anchor="t" anchorCtr="0"/>
          <a:lstStyle/>
          <a:p>
            <a:pPr marL="0" indent="0" eaLnBrk="1" hangingPunct="1">
              <a:buNone/>
            </a:pPr>
            <a:endParaRPr lang="en-US" altLang="en-IN" sz="2400" dirty="0">
              <a:latin typeface="Times New Roman" panose="02020603050405020304" pitchFamily="18" charset="0"/>
            </a:endParaRPr>
          </a:p>
          <a:p>
            <a:pPr marL="457200" indent="-457200" eaLnBrk="1" hangingPunct="1">
              <a:buFont typeface="+mj-lt"/>
              <a:buAutoNum type="arabicPeriod"/>
            </a:pPr>
            <a:r>
              <a:rPr lang="en-US" altLang="en-IN" sz="2400" dirty="0">
                <a:latin typeface="Times New Roman" panose="02020603050405020304" pitchFamily="18" charset="0"/>
              </a:rPr>
              <a:t>Abstract</a:t>
            </a:r>
          </a:p>
          <a:p>
            <a:pPr marL="457200" indent="-457200" eaLnBrk="1" hangingPunct="1">
              <a:buFont typeface="+mj-lt"/>
              <a:buAutoNum type="arabicPeriod"/>
            </a:pPr>
            <a:r>
              <a:rPr lang="en-US" altLang="en-IN" sz="2400" dirty="0">
                <a:latin typeface="Times New Roman" panose="02020603050405020304" pitchFamily="18" charset="0"/>
              </a:rPr>
              <a:t>Introduction</a:t>
            </a:r>
          </a:p>
          <a:p>
            <a:pPr marL="457200" indent="-457200" eaLnBrk="1" hangingPunct="1">
              <a:buFont typeface="+mj-lt"/>
              <a:buAutoNum type="arabicPeriod"/>
            </a:pPr>
            <a:r>
              <a:rPr lang="en-US" altLang="en-IN" sz="2400" dirty="0">
                <a:latin typeface="Times New Roman" panose="02020603050405020304" pitchFamily="18" charset="0"/>
              </a:rPr>
              <a:t>Existing System</a:t>
            </a:r>
          </a:p>
          <a:p>
            <a:pPr marL="457200" indent="-457200" eaLnBrk="1" hangingPunct="1">
              <a:buFont typeface="+mj-lt"/>
              <a:buAutoNum type="arabicPeriod"/>
            </a:pPr>
            <a:r>
              <a:rPr lang="en-US" altLang="en-IN" sz="2400" dirty="0">
                <a:latin typeface="Times New Roman" panose="02020603050405020304" pitchFamily="18" charset="0"/>
              </a:rPr>
              <a:t>Drawbacks of Existing System</a:t>
            </a:r>
          </a:p>
          <a:p>
            <a:pPr marL="457200" indent="-457200" eaLnBrk="1" hangingPunct="1">
              <a:buFont typeface="+mj-lt"/>
              <a:buAutoNum type="arabicPeriod"/>
            </a:pPr>
            <a:r>
              <a:rPr lang="en-US" sz="2400" dirty="0">
                <a:latin typeface="Times New Roman" panose="02020603050405020304" pitchFamily="18" charset="0"/>
                <a:cs typeface="Times New Roman" panose="02020603050405020304" pitchFamily="18" charset="0"/>
              </a:rPr>
              <a:t>Proposed System</a:t>
            </a:r>
          </a:p>
          <a:p>
            <a:pPr marL="457200" indent="-457200" eaLnBrk="1" hangingPunct="1">
              <a:buFont typeface="+mj-lt"/>
              <a:buAutoNum type="arabicPeriod"/>
            </a:pPr>
            <a:r>
              <a:rPr lang="en-US" sz="2400" dirty="0">
                <a:latin typeface="Times New Roman" panose="02020603050405020304" pitchFamily="18" charset="0"/>
                <a:cs typeface="Times New Roman" panose="02020603050405020304" pitchFamily="18" charset="0"/>
              </a:rPr>
              <a:t>Advantages of Proposed System</a:t>
            </a:r>
          </a:p>
          <a:p>
            <a:pPr marL="457200" indent="-457200" eaLnBrk="1" hangingPunct="1">
              <a:buFont typeface="+mj-lt"/>
              <a:buAutoNum type="arabicPeriod"/>
            </a:pPr>
            <a:r>
              <a:rPr lang="en-US" sz="2400" dirty="0">
                <a:latin typeface="Times New Roman" panose="02020603050405020304" pitchFamily="18" charset="0"/>
                <a:cs typeface="Times New Roman" panose="02020603050405020304" pitchFamily="18" charset="0"/>
              </a:rPr>
              <a:t>System Requirements</a:t>
            </a:r>
          </a:p>
          <a:p>
            <a:pPr marL="457200" indent="-457200" eaLnBrk="1" hangingPunct="1">
              <a:buFont typeface="+mj-lt"/>
              <a:buAutoNum type="arabicPeriod"/>
            </a:pPr>
            <a:r>
              <a:rPr lang="en-US" altLang="en-IN" sz="2400" dirty="0">
                <a:latin typeface="Times New Roman" panose="02020603050405020304" pitchFamily="18" charset="0"/>
                <a:cs typeface="Times New Roman" panose="02020603050405020304" pitchFamily="18" charset="0"/>
              </a:rPr>
              <a:t>UML Diagrams</a:t>
            </a:r>
          </a:p>
          <a:p>
            <a:pPr marL="457200" indent="-457200" eaLnBrk="1" hangingPunct="1">
              <a:buFont typeface="+mj-lt"/>
              <a:buAutoNum type="arabicPeriod"/>
            </a:pPr>
            <a:r>
              <a:rPr lang="en-US" altLang="en-IN" sz="2400" dirty="0">
                <a:latin typeface="Times New Roman" panose="02020603050405020304" pitchFamily="18" charset="0"/>
                <a:cs typeface="Times New Roman" panose="02020603050405020304" pitchFamily="18" charset="0"/>
              </a:rPr>
              <a:t>Conclusion</a:t>
            </a:r>
            <a:endParaRPr lang="en-US" altLang="en-IN" sz="2400" dirty="0">
              <a:latin typeface="Times New Roman" panose="02020603050405020304" pitchFamily="18" charset="0"/>
            </a:endParaRPr>
          </a:p>
          <a:p>
            <a:pPr eaLnBrk="1" hangingPunct="1"/>
            <a:endParaRPr lang="en-US" altLang="en-IN" sz="2400" dirty="0">
              <a:latin typeface="Times New Roman" panose="02020603050405020304" pitchFamily="18" charset="0"/>
            </a:endParaRPr>
          </a:p>
          <a:p>
            <a:pPr eaLnBrk="1" hangingPunct="1"/>
            <a:endParaRPr lang="en-US" altLang="en-IN" dirty="0">
              <a:latin typeface="Times New Roman" panose="02020603050405020304" pitchFamily="18" charset="0"/>
            </a:endParaRPr>
          </a:p>
          <a:p>
            <a:pPr eaLnBrk="1" hangingPunct="1"/>
            <a:endParaRPr lang="en-US" altLang="en-IN" dirty="0">
              <a:latin typeface="Times New Roman" panose="02020603050405020304" pitchFamily="18" charset="0"/>
            </a:endParaRPr>
          </a:p>
          <a:p>
            <a:pPr eaLnBrk="1" hangingPunct="1"/>
            <a:endParaRPr lang="en-US" altLang="en-IN" dirty="0">
              <a:latin typeface="Times New Roman" panose="02020603050405020304" pitchFamily="18" charset="0"/>
            </a:endParaRPr>
          </a:p>
          <a:p>
            <a:pPr eaLnBrk="1" hangingPunct="1"/>
            <a:endParaRPr lang="en-US" altLang="en-IN" dirty="0">
              <a:latin typeface="Times New Roman" panose="02020603050405020304" pitchFamily="18" charset="0"/>
            </a:endParaRPr>
          </a:p>
          <a:p>
            <a:pPr eaLnBrk="1" hangingPunct="1"/>
            <a:endParaRPr lang="en-US" altLang="en-IN" dirty="0">
              <a:latin typeface="Times New Roman" panose="02020603050405020304" pitchFamily="18" charset="0"/>
            </a:endParaRPr>
          </a:p>
        </p:txBody>
      </p:sp>
      <p:sp>
        <p:nvSpPr>
          <p:cNvPr id="5124" name="Slide Number Placeholder 2"/>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2</a:t>
            </a:fld>
            <a:endParaRPr lang="en-IN" altLang="en-US" sz="1200" b="1" dirty="0">
              <a:solidFill>
                <a:srgbClr val="C00000"/>
              </a:solidFill>
            </a:endParaRPr>
          </a:p>
        </p:txBody>
      </p:sp>
      <p:pic>
        <p:nvPicPr>
          <p:cNvPr id="5125"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0992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5128" name="Picture 6"/>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6"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 Sem | Dept of Computational Intelligence| |</a:t>
            </a:r>
          </a:p>
        </p:txBody>
      </p:sp>
      <p:sp>
        <p:nvSpPr>
          <p:cNvPr id="3" name="TextBox 2">
            <a:extLst>
              <a:ext uri="{FF2B5EF4-FFF2-40B4-BE49-F238E27FC236}">
                <a16:creationId xmlns:a16="http://schemas.microsoft.com/office/drawing/2014/main" id="{36830D01-CE67-88BB-9DA8-56285E3022E9}"/>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aa-ET" sz="1600" b="1" dirty="0">
              <a:latin typeface="Arial Rounded MT Bold" panose="020F070403050403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82600"/>
            <a:ext cx="10515600" cy="598488"/>
          </a:xfrm>
        </p:spPr>
        <p:txBody>
          <a:bodyPr vert="horz" wrap="square" lIns="91440" tIns="45720" rIns="91440" bIns="45720" numCol="1" rtlCol="0" anchor="ctr" anchorCtr="0" compatLnSpc="1">
            <a:no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000" b="1" i="0" u="none" strike="noStrike" kern="1200" cap="none" spc="0" normalizeH="0" baseline="0" noProof="0" dirty="0">
                <a:ln>
                  <a:noFill/>
                </a:ln>
                <a:solidFill>
                  <a:srgbClr val="00B0F0"/>
                </a:solidFill>
                <a:effectLst/>
                <a:uLnTx/>
                <a:uFillTx/>
                <a:latin typeface="Times New Roman" panose="02020603050405020304" pitchFamily="18" charset="0"/>
                <a:ea typeface="+mj-ea"/>
                <a:cs typeface="Times New Roman" panose="02020603050405020304" pitchFamily="18" charset="0"/>
              </a:rPr>
              <a:t>Abstract</a:t>
            </a:r>
          </a:p>
        </p:txBody>
      </p:sp>
      <p:sp>
        <p:nvSpPr>
          <p:cNvPr id="6147" name="Content Placeholder 2"/>
          <p:cNvSpPr>
            <a:spLocks noGrp="1"/>
          </p:cNvSpPr>
          <p:nvPr>
            <p:ph idx="1"/>
          </p:nvPr>
        </p:nvSpPr>
        <p:spPr>
          <a:xfrm>
            <a:off x="838200" y="1090736"/>
            <a:ext cx="10515600" cy="5095875"/>
          </a:xfrm>
        </p:spPr>
        <p:txBody>
          <a:bodyPr vert="horz" wrap="square" lIns="91440" tIns="45720" rIns="91440" bIns="45720" anchor="t" anchorCtr="0"/>
          <a:lstStyle/>
          <a:p>
            <a:pPr marL="0" indent="0" algn="just" eaLnBrk="1" hangingPunct="1">
              <a:lnSpc>
                <a:spcPct val="100000"/>
              </a:lnSpc>
              <a:buNone/>
            </a:pPr>
            <a:r>
              <a:rPr lang="en-US" altLang="en-US" sz="2400" dirty="0">
                <a:latin typeface="Times New Roman" panose="02020603050405020304" pitchFamily="18" charset="0"/>
              </a:rPr>
              <a:t>Railway track detection plays a critical role in ensuring the safety, reliability, and maintenance of railway transportation systems. Building upon the previous implementation using </a:t>
            </a:r>
            <a:r>
              <a:rPr lang="en-US" altLang="en-US" sz="2400" dirty="0" err="1">
                <a:latin typeface="Times New Roman" panose="02020603050405020304" pitchFamily="18" charset="0"/>
              </a:rPr>
              <a:t>SegNet</a:t>
            </a:r>
            <a:r>
              <a:rPr lang="en-US" altLang="en-US" sz="2400" dirty="0">
                <a:latin typeface="Times New Roman" panose="02020603050405020304" pitchFamily="18" charset="0"/>
              </a:rPr>
              <a:t> for pixel-wise segmentation, this project extends the approach by incorporating </a:t>
            </a:r>
            <a:r>
              <a:rPr lang="en-US" altLang="en-US" sz="2400" dirty="0" err="1">
                <a:latin typeface="Times New Roman" panose="02020603050405020304" pitchFamily="18" charset="0"/>
              </a:rPr>
              <a:t>ResNet</a:t>
            </a:r>
            <a:r>
              <a:rPr lang="en-US" altLang="en-US" sz="2400" dirty="0">
                <a:latin typeface="Times New Roman" panose="02020603050405020304" pitchFamily="18" charset="0"/>
              </a:rPr>
              <a:t> (Residual Neural Network) to improve classification accuracy and robustness. </a:t>
            </a:r>
            <a:r>
              <a:rPr lang="en-US" altLang="en-US" sz="2400" dirty="0" err="1">
                <a:latin typeface="Times New Roman" panose="02020603050405020304" pitchFamily="18" charset="0"/>
              </a:rPr>
              <a:t>ResNet</a:t>
            </a:r>
            <a:r>
              <a:rPr lang="en-US" altLang="en-US" sz="2400" dirty="0">
                <a:latin typeface="Times New Roman" panose="02020603050405020304" pitchFamily="18" charset="0"/>
              </a:rPr>
              <a:t> is a deep Convolutional Neural Network (CNN) that introduces residual learning through skip connections, enabling the model to train effectively even with increased depth. In this project, </a:t>
            </a:r>
            <a:r>
              <a:rPr lang="en-US" altLang="en-US" sz="2400" dirty="0" err="1">
                <a:latin typeface="Times New Roman" panose="02020603050405020304" pitchFamily="18" charset="0"/>
              </a:rPr>
              <a:t>ResNet</a:t>
            </a:r>
            <a:r>
              <a:rPr lang="en-US" altLang="en-US" sz="2400" dirty="0">
                <a:latin typeface="Times New Roman" panose="02020603050405020304" pitchFamily="18" charset="0"/>
              </a:rPr>
              <a:t> is used to classify images as “track” or “non-track,” focusing on improving detection accuracy and reducing misclassification in complex environments such as occlusions, varying lighting conditions, and background noise. By integrating </a:t>
            </a:r>
            <a:r>
              <a:rPr lang="en-US" altLang="en-US" sz="2400" dirty="0" err="1">
                <a:latin typeface="Times New Roman" panose="02020603050405020304" pitchFamily="18" charset="0"/>
              </a:rPr>
              <a:t>ResNet</a:t>
            </a:r>
            <a:r>
              <a:rPr lang="en-US" altLang="en-US" sz="2400" dirty="0">
                <a:latin typeface="Times New Roman" panose="02020603050405020304" pitchFamily="18" charset="0"/>
              </a:rPr>
              <a:t> into the detection pipeline, this project highlights how advanced deep learning architectures can significantly improve performance in real-world railway monitoring systems.</a:t>
            </a:r>
          </a:p>
        </p:txBody>
      </p:sp>
      <p:sp>
        <p:nvSpPr>
          <p:cNvPr id="6148" name="Slide Number Placeholder 2"/>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3</a:t>
            </a:fld>
            <a:endParaRPr lang="en-IN" altLang="en-US" sz="1200" b="1" dirty="0">
              <a:solidFill>
                <a:srgbClr val="C00000"/>
              </a:solidFill>
            </a:endParaRPr>
          </a:p>
        </p:txBody>
      </p:sp>
      <p:pic>
        <p:nvPicPr>
          <p:cNvPr id="6149"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6152" name="Picture 6"/>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6"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 Sem | Dept of Computational Intelligence| </a:t>
            </a:r>
            <a:r>
              <a:rPr lang="en-IN" sz="1600" b="1" dirty="0">
                <a:solidFill>
                  <a:schemeClr val="tx1"/>
                </a:solidFill>
                <a:latin typeface="Arial Rounded MT Bold" pitchFamily="34" charset="0"/>
              </a:rPr>
              <a:t>Project Phase - I </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Project Review</a:t>
            </a:r>
          </a:p>
        </p:txBody>
      </p:sp>
      <p:sp>
        <p:nvSpPr>
          <p:cNvPr id="7" name="TextBox 6">
            <a:extLst>
              <a:ext uri="{FF2B5EF4-FFF2-40B4-BE49-F238E27FC236}">
                <a16:creationId xmlns:a16="http://schemas.microsoft.com/office/drawing/2014/main" id="{1AE0D66D-998F-833F-1DBD-C4CC66FDD99C}"/>
              </a:ext>
            </a:extLst>
          </p:cNvPr>
          <p:cNvSpPr txBox="1"/>
          <p:nvPr/>
        </p:nvSpPr>
        <p:spPr>
          <a:xfrm>
            <a:off x="2147467" y="-97079"/>
            <a:ext cx="6588967" cy="338554"/>
          </a:xfrm>
          <a:prstGeom prst="rect">
            <a:avLst/>
          </a:prstGeom>
          <a:noFill/>
        </p:spPr>
        <p:txBody>
          <a:bodyPr wrap="square" rtlCol="0">
            <a:spAutoFit/>
          </a:bodyPr>
          <a:lstStyle/>
          <a:p>
            <a:pPr algn="ctr"/>
            <a:r>
              <a:rPr lang="en-US" sz="1600" b="1" dirty="0">
                <a:latin typeface="Arial Rounded MT Bold" panose="020F0704030504030204" pitchFamily="34" charset="0"/>
                <a:cs typeface="Arial" panose="020B0604020202020204" pitchFamily="34" charset="0"/>
              </a:rPr>
              <a:t>MALLA REDDY COLLEGE OF ENGINEERING AND TECHNOLOGY</a:t>
            </a:r>
            <a:endParaRPr lang="aa-ET" sz="1600" b="1" dirty="0">
              <a:latin typeface="Arial Rounded MT Bold" panose="020F070403050403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10515600" cy="649288"/>
          </a:xfrm>
        </p:spPr>
        <p:txBody>
          <a:bodyPr vert="horz" wrap="square" lIns="91440" tIns="45720" rIns="91440" bIns="45720" numCol="1" rtlCol="0" anchor="ctr" anchorCtr="0" compatLnSpc="1">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000" b="1" i="0" u="none" strike="noStrike" kern="1200" cap="none" spc="0" normalizeH="0" baseline="0" noProof="0" dirty="0">
                <a:ln>
                  <a:noFill/>
                </a:ln>
                <a:solidFill>
                  <a:srgbClr val="00B0F0"/>
                </a:solidFill>
                <a:effectLst/>
                <a:uLnTx/>
                <a:uFillTx/>
                <a:latin typeface="Times New Roman" panose="02020603050405020304" pitchFamily="18" charset="0"/>
                <a:ea typeface="+mj-ea"/>
                <a:cs typeface="Times New Roman" panose="02020603050405020304" pitchFamily="18" charset="0"/>
              </a:rPr>
              <a:t>Introduction</a:t>
            </a:r>
          </a:p>
        </p:txBody>
      </p:sp>
      <p:sp>
        <p:nvSpPr>
          <p:cNvPr id="7171" name="Content Placeholder 2"/>
          <p:cNvSpPr>
            <a:spLocks noGrp="1"/>
          </p:cNvSpPr>
          <p:nvPr>
            <p:ph idx="1"/>
          </p:nvPr>
        </p:nvSpPr>
        <p:spPr>
          <a:xfrm>
            <a:off x="838200" y="1106488"/>
            <a:ext cx="10515600" cy="5070475"/>
          </a:xfrm>
        </p:spPr>
        <p:txBody>
          <a:bodyPr vert="horz" wrap="square" lIns="91440" tIns="45720" rIns="91440" bIns="45720" anchor="t" anchorCtr="0"/>
          <a:lstStyle/>
          <a:p>
            <a:pPr algn="just">
              <a:lnSpc>
                <a:spcPct val="150000"/>
              </a:lnSpc>
            </a:pPr>
            <a:r>
              <a:rPr lang="en-US" sz="2400" dirty="0">
                <a:latin typeface="Times New Roman" panose="02020603050405020304" pitchFamily="18" charset="0"/>
                <a:cs typeface="Times New Roman" panose="02020603050405020304" pitchFamily="18" charset="0"/>
              </a:rPr>
              <a:t>Railway track detection is important for maintaining safety and preventing accidents in railway systems. Traditional methods are often slow and less accurate, especially in complex environments. To overcome these issues, this project uses </a:t>
            </a:r>
            <a:r>
              <a:rPr lang="en-US" sz="2400" b="1" dirty="0" err="1">
                <a:latin typeface="Times New Roman" panose="02020603050405020304" pitchFamily="18" charset="0"/>
                <a:cs typeface="Times New Roman" panose="02020603050405020304" pitchFamily="18" charset="0"/>
              </a:rPr>
              <a:t>ResNet</a:t>
            </a:r>
            <a:r>
              <a:rPr lang="en-US" sz="2400" dirty="0">
                <a:latin typeface="Times New Roman" panose="02020603050405020304" pitchFamily="18" charset="0"/>
                <a:cs typeface="Times New Roman" panose="02020603050405020304" pitchFamily="18" charset="0"/>
              </a:rPr>
              <a:t>, a deep learning model that improves detection performance.</a:t>
            </a:r>
          </a:p>
          <a:p>
            <a:pPr algn="just">
              <a:lnSpc>
                <a:spcPct val="150000"/>
              </a:lnSpc>
            </a:pPr>
            <a:r>
              <a:rPr lang="en-US" sz="2400" dirty="0" err="1">
                <a:latin typeface="Times New Roman" panose="02020603050405020304" pitchFamily="18" charset="0"/>
                <a:cs typeface="Times New Roman" panose="02020603050405020304" pitchFamily="18" charset="0"/>
              </a:rPr>
              <a:t>ResNet</a:t>
            </a:r>
            <a:r>
              <a:rPr lang="en-US" sz="2400" dirty="0">
                <a:latin typeface="Times New Roman" panose="02020603050405020304" pitchFamily="18" charset="0"/>
                <a:cs typeface="Times New Roman" panose="02020603050405020304" pitchFamily="18" charset="0"/>
              </a:rPr>
              <a:t> uses advanced techniques like skip connections to learn features effectively, even in deep networks. In this project, it is used to identify whether an image contains a railway track or not. This approach improves accuracy, reduces errors, and makes the system more reliable for real-time railway monitoring.</a:t>
            </a:r>
          </a:p>
          <a:p>
            <a:pPr marL="0" indent="0" algn="just" eaLnBrk="1" hangingPunct="1">
              <a:buNone/>
            </a:pPr>
            <a:endParaRPr lang="en-US" altLang="en-US" sz="2600" dirty="0">
              <a:latin typeface="Times New Roman" panose="02020603050405020304" pitchFamily="18" charset="0"/>
            </a:endParaRPr>
          </a:p>
        </p:txBody>
      </p:sp>
      <p:sp>
        <p:nvSpPr>
          <p:cNvPr id="7172" name="Slide Number Placeholder 2"/>
          <p:cNvSpPr txBox="1">
            <a:spLocks noGrp="1"/>
          </p:cNvSpPr>
          <p:nvPr>
            <p:ph type="sldNum" sz="quarter" idx="12"/>
          </p:nvPr>
        </p:nvSpPr>
        <p:spPr>
          <a:xfrm>
            <a:off x="9321800" y="6280150"/>
            <a:ext cx="2743200" cy="365125"/>
          </a:xfrm>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4</a:t>
            </a:fld>
            <a:endParaRPr lang="en-IN" altLang="en-US" sz="1200" b="1" dirty="0">
              <a:solidFill>
                <a:srgbClr val="C00000"/>
              </a:solidFill>
            </a:endParaRPr>
          </a:p>
        </p:txBody>
      </p:sp>
      <p:pic>
        <p:nvPicPr>
          <p:cNvPr id="7173" name="Picture 5"/>
          <p:cNvPicPr/>
          <p:nvPr/>
        </p:nvPicPr>
        <p:blipFill>
          <a:blip r:embed="rId2"/>
          <a:stretch>
            <a:fillRect/>
          </a:stretch>
        </p:blipFill>
        <p:spPr>
          <a:xfrm>
            <a:off x="11290300" y="0"/>
            <a:ext cx="901700" cy="993775"/>
          </a:xfrm>
          <a:prstGeom prst="rect">
            <a:avLst/>
          </a:prstGeom>
          <a:noFill/>
          <a:ln w="9525">
            <a:noFill/>
          </a:ln>
        </p:spPr>
      </p:pic>
      <p:pic>
        <p:nvPicPr>
          <p:cNvPr id="7174" name="Picture 5"/>
          <p:cNvPicPr/>
          <p:nvPr/>
        </p:nvPicPr>
        <p:blipFill>
          <a:blip r:embed="rId2"/>
          <a:stretch>
            <a:fillRect/>
          </a:stretch>
        </p:blipFill>
        <p:spPr>
          <a:xfrm>
            <a:off x="11290300" y="0"/>
            <a:ext cx="901700" cy="993775"/>
          </a:xfrm>
          <a:prstGeom prst="rect">
            <a:avLst/>
          </a:prstGeom>
          <a:noFill/>
          <a:ln w="9525">
            <a:noFill/>
          </a:ln>
        </p:spPr>
      </p:pic>
      <p:sp>
        <p:nvSpPr>
          <p:cNvPr id="11"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2" name="Rectangle 11"/>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7177" name="Picture 12"/>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3"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 Sem | Dept of Computational Intelligence| </a:t>
            </a:r>
            <a:r>
              <a:rPr lang="en-IN" sz="1600" b="1" dirty="0">
                <a:solidFill>
                  <a:schemeClr val="tx1"/>
                </a:solidFill>
                <a:latin typeface="Arial Rounded MT Bold" pitchFamily="34" charset="0"/>
              </a:rPr>
              <a:t>Project Phase - I | </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Project Review</a:t>
            </a:r>
          </a:p>
        </p:txBody>
      </p:sp>
      <p:sp>
        <p:nvSpPr>
          <p:cNvPr id="4" name="TextBox 3">
            <a:extLst>
              <a:ext uri="{FF2B5EF4-FFF2-40B4-BE49-F238E27FC236}">
                <a16:creationId xmlns:a16="http://schemas.microsoft.com/office/drawing/2014/main" id="{A8E9643F-FCF3-963F-212C-21755E9F4A85}"/>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aa-ET" sz="1600" b="1" dirty="0">
              <a:latin typeface="Arial Rounded MT Bold" panose="020F070403050403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838200" y="365125"/>
            <a:ext cx="10515600" cy="752475"/>
          </a:xfrm>
        </p:spPr>
        <p:txBody>
          <a:bodyPr vert="horz" wrap="square" lIns="91440" tIns="45720" rIns="91440" bIns="45720" anchor="ctr" anchorCtr="0"/>
          <a:lstStyle/>
          <a:p>
            <a:pPr eaLnBrk="1" hangingPunct="1"/>
            <a:r>
              <a:rPr lang="en-IN" altLang="en-US" sz="4000" b="1" dirty="0">
                <a:solidFill>
                  <a:srgbClr val="00B0F0"/>
                </a:solidFill>
                <a:latin typeface="Times New Roman" panose="02020603050405020304" pitchFamily="18" charset="0"/>
              </a:rPr>
              <a:t>Existing System</a:t>
            </a:r>
          </a:p>
        </p:txBody>
      </p:sp>
      <p:sp>
        <p:nvSpPr>
          <p:cNvPr id="8195" name="Content Placeholder 2"/>
          <p:cNvSpPr>
            <a:spLocks noGrp="1"/>
          </p:cNvSpPr>
          <p:nvPr>
            <p:ph idx="1"/>
          </p:nvPr>
        </p:nvSpPr>
        <p:spPr>
          <a:xfrm>
            <a:off x="838200" y="1417637"/>
            <a:ext cx="10515600" cy="4003449"/>
          </a:xfrm>
        </p:spPr>
        <p:txBody>
          <a:bodyPr vert="horz" wrap="square" lIns="91440" tIns="45720" rIns="91440" bIns="45720" anchor="t" anchorCtr="0"/>
          <a:lstStyle/>
          <a:p>
            <a:pPr algn="just">
              <a:lnSpc>
                <a:spcPct val="100000"/>
              </a:lnSpc>
            </a:pPr>
            <a:r>
              <a:rPr lang="en-IN" sz="2400" dirty="0">
                <a:latin typeface="Times New Roman" panose="02020603050405020304" pitchFamily="18" charset="0"/>
                <a:cs typeface="Times New Roman" panose="02020603050405020304" pitchFamily="18" charset="0"/>
              </a:rPr>
              <a:t>Existing System is incredibly slow and inefficient.</a:t>
            </a:r>
          </a:p>
          <a:p>
            <a:pPr algn="just"/>
            <a:r>
              <a:rPr lang="en-US" sz="2400" dirty="0">
                <a:latin typeface="Times New Roman" panose="02020603050405020304" pitchFamily="18" charset="0"/>
                <a:cs typeface="Times New Roman" panose="02020603050405020304" pitchFamily="18" charset="0"/>
              </a:rPr>
              <a:t>Earlier deep learning approaches like </a:t>
            </a:r>
            <a:r>
              <a:rPr lang="en-US" sz="2400" b="1" dirty="0" err="1">
                <a:latin typeface="Times New Roman" panose="02020603050405020304" pitchFamily="18" charset="0"/>
                <a:cs typeface="Times New Roman" panose="02020603050405020304" pitchFamily="18" charset="0"/>
              </a:rPr>
              <a:t>SegNet</a:t>
            </a:r>
            <a:r>
              <a:rPr lang="en-US" sz="2400" dirty="0">
                <a:latin typeface="Times New Roman" panose="02020603050405020304" pitchFamily="18" charset="0"/>
                <a:cs typeface="Times New Roman" panose="02020603050405020304" pitchFamily="18" charset="0"/>
              </a:rPr>
              <a:t> perform pixel-wise segmentation of tracks, but they require high computational power and struggle with accuracy in real-world scenarios. </a:t>
            </a:r>
          </a:p>
          <a:p>
            <a:pPr algn="just"/>
            <a:r>
              <a:rPr lang="en-US" sz="2400" dirty="0">
                <a:latin typeface="Times New Roman" panose="02020603050405020304" pitchFamily="18" charset="0"/>
                <a:cs typeface="Times New Roman" panose="02020603050405020304" pitchFamily="18" charset="0"/>
              </a:rPr>
              <a:t>These systems may produce incorrect segmentation results when the track is partially visible or when the environment is highly dynamic.</a:t>
            </a:r>
          </a:p>
          <a:p>
            <a:pPr algn="just"/>
            <a:r>
              <a:rPr lang="en-US" altLang="en-US" sz="2400" dirty="0">
                <a:latin typeface="Times New Roman" panose="02020603050405020304" pitchFamily="18" charset="0"/>
                <a:cs typeface="Times New Roman" panose="02020603050405020304" pitchFamily="18" charset="0"/>
              </a:rPr>
              <a:t>Performance may decrease with low-quality or limited data. </a:t>
            </a:r>
          </a:p>
          <a:p>
            <a:pPr algn="just"/>
            <a:r>
              <a:rPr lang="en-US" altLang="en-US" sz="2400" dirty="0">
                <a:latin typeface="Times New Roman" panose="02020603050405020304" pitchFamily="18" charset="0"/>
                <a:cs typeface="Times New Roman" panose="02020603050405020304" pitchFamily="18" charset="0"/>
              </a:rPr>
              <a:t>Although it improves detection compared to traditional methods, it still has some limitations.</a:t>
            </a:r>
          </a:p>
        </p:txBody>
      </p:sp>
      <p:sp>
        <p:nvSpPr>
          <p:cNvPr id="8196" name="Slide Number Placeholder 1"/>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5</a:t>
            </a:fld>
            <a:endParaRPr lang="en-IN" altLang="en-US" sz="1200" b="1" dirty="0">
              <a:solidFill>
                <a:srgbClr val="C00000"/>
              </a:solidFill>
            </a:endParaRPr>
          </a:p>
        </p:txBody>
      </p:sp>
      <p:pic>
        <p:nvPicPr>
          <p:cNvPr id="8197" name="Picture 5"/>
          <p:cNvPicPr/>
          <p:nvPr/>
        </p:nvPicPr>
        <p:blipFill>
          <a:blip r:embed="rId2"/>
          <a:stretch>
            <a:fillRect/>
          </a:stretch>
        </p:blipFill>
        <p:spPr>
          <a:xfrm>
            <a:off x="11299825" y="0"/>
            <a:ext cx="901700" cy="993775"/>
          </a:xfrm>
          <a:prstGeom prst="rect">
            <a:avLst/>
          </a:prstGeom>
          <a:noFill/>
          <a:ln w="9525">
            <a:noFill/>
          </a:ln>
        </p:spPr>
      </p:pic>
      <p:pic>
        <p:nvPicPr>
          <p:cNvPr id="8198"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8201" name="Picture 5"/>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 Sem | Dept of Computational Intelligence| </a:t>
            </a:r>
            <a:r>
              <a:rPr lang="en-IN" sz="1600" b="1" dirty="0">
                <a:solidFill>
                  <a:schemeClr val="tx1"/>
                </a:solidFill>
                <a:latin typeface="Arial Rounded MT Bold" pitchFamily="34" charset="0"/>
              </a:rPr>
              <a:t>Project Phase - I </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Project Review</a:t>
            </a:r>
          </a:p>
        </p:txBody>
      </p:sp>
      <p:sp>
        <p:nvSpPr>
          <p:cNvPr id="6" name="TextBox 5">
            <a:extLst>
              <a:ext uri="{FF2B5EF4-FFF2-40B4-BE49-F238E27FC236}">
                <a16:creationId xmlns:a16="http://schemas.microsoft.com/office/drawing/2014/main" id="{F759BCB4-B5DA-3CF8-1F37-0DA1FE2BDE13}"/>
              </a:ext>
            </a:extLst>
          </p:cNvPr>
          <p:cNvSpPr txBox="1"/>
          <p:nvPr/>
        </p:nvSpPr>
        <p:spPr>
          <a:xfrm>
            <a:off x="2147467" y="-97079"/>
            <a:ext cx="6588967" cy="338554"/>
          </a:xfrm>
          <a:prstGeom prst="rect">
            <a:avLst/>
          </a:prstGeom>
          <a:noFill/>
        </p:spPr>
        <p:txBody>
          <a:bodyPr wrap="square" rtlCol="0">
            <a:spAutoFit/>
          </a:bodyPr>
          <a:lstStyle/>
          <a:p>
            <a:pPr algn="ctr"/>
            <a:r>
              <a:rPr lang="en-US" sz="1600" b="1" dirty="0">
                <a:latin typeface="Arial Rounded MT Bold" panose="020F0704030504030204" pitchFamily="34" charset="0"/>
                <a:cs typeface="Arial" panose="020B0604020202020204" pitchFamily="34" charset="0"/>
              </a:rPr>
              <a:t>MALLA REDDY COLLEGE OF ENGINEERING AND TECHNOLOGY</a:t>
            </a:r>
            <a:endParaRPr lang="aa-ET" sz="1600" b="1" dirty="0">
              <a:latin typeface="Arial Rounded MT Bold" panose="020F070403050403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E3912-19F8-8670-9382-3EE8DA8F87B2}"/>
            </a:ext>
          </a:extLst>
        </p:cNvPr>
        <p:cNvGrpSpPr/>
        <p:nvPr/>
      </p:nvGrpSpPr>
      <p:grpSpPr>
        <a:xfrm>
          <a:off x="0" y="0"/>
          <a:ext cx="0" cy="0"/>
          <a:chOff x="0" y="0"/>
          <a:chExt cx="0" cy="0"/>
        </a:xfrm>
      </p:grpSpPr>
      <p:sp>
        <p:nvSpPr>
          <p:cNvPr id="8194" name="Title 1">
            <a:extLst>
              <a:ext uri="{FF2B5EF4-FFF2-40B4-BE49-F238E27FC236}">
                <a16:creationId xmlns:a16="http://schemas.microsoft.com/office/drawing/2014/main" id="{C9635C0A-03C1-D702-8AE7-62753F73B891}"/>
              </a:ext>
            </a:extLst>
          </p:cNvPr>
          <p:cNvSpPr>
            <a:spLocks noGrp="1"/>
          </p:cNvSpPr>
          <p:nvPr>
            <p:ph type="title"/>
          </p:nvPr>
        </p:nvSpPr>
        <p:spPr>
          <a:xfrm>
            <a:off x="838200" y="365125"/>
            <a:ext cx="10515600" cy="752475"/>
          </a:xfrm>
        </p:spPr>
        <p:txBody>
          <a:bodyPr vert="horz" wrap="square" lIns="91440" tIns="45720" rIns="91440" bIns="45720" anchor="ctr" anchorCtr="0"/>
          <a:lstStyle/>
          <a:p>
            <a:pPr eaLnBrk="1" hangingPunct="1"/>
            <a:r>
              <a:rPr lang="en-US" sz="4000" b="1" dirty="0">
                <a:solidFill>
                  <a:srgbClr val="00B0F0"/>
                </a:solidFill>
                <a:latin typeface="Times New Roman" panose="02020603050405020304" pitchFamily="18" charset="0"/>
                <a:cs typeface="Times New Roman" panose="02020603050405020304" pitchFamily="18" charset="0"/>
              </a:rPr>
              <a:t>Drawbacks of </a:t>
            </a:r>
            <a:r>
              <a:rPr lang="en-IN" altLang="en-US" sz="4000" b="1" dirty="0">
                <a:solidFill>
                  <a:srgbClr val="00B0F0"/>
                </a:solidFill>
                <a:latin typeface="Times New Roman" panose="02020603050405020304" pitchFamily="18" charset="0"/>
              </a:rPr>
              <a:t>Existing System</a:t>
            </a:r>
          </a:p>
        </p:txBody>
      </p:sp>
      <p:sp>
        <p:nvSpPr>
          <p:cNvPr id="8195" name="Content Placeholder 2">
            <a:extLst>
              <a:ext uri="{FF2B5EF4-FFF2-40B4-BE49-F238E27FC236}">
                <a16:creationId xmlns:a16="http://schemas.microsoft.com/office/drawing/2014/main" id="{D37F127A-7376-E5B7-E82C-0750011810A3}"/>
              </a:ext>
            </a:extLst>
          </p:cNvPr>
          <p:cNvSpPr>
            <a:spLocks noGrp="1"/>
          </p:cNvSpPr>
          <p:nvPr>
            <p:ph idx="1"/>
          </p:nvPr>
        </p:nvSpPr>
        <p:spPr>
          <a:xfrm>
            <a:off x="838200" y="1276350"/>
            <a:ext cx="10515600" cy="5067300"/>
          </a:xfrm>
        </p:spPr>
        <p:txBody>
          <a:bodyPr vert="horz" wrap="square" lIns="91440" tIns="45720" rIns="91440" bIns="45720" anchor="t" anchorCtr="0"/>
          <a:lstStyle/>
          <a:p>
            <a:pPr>
              <a:lnSpc>
                <a:spcPct val="100000"/>
              </a:lnSpc>
            </a:pPr>
            <a:r>
              <a:rPr lang="en-IN" sz="2400" dirty="0">
                <a:latin typeface="Times New Roman" panose="02020603050405020304" pitchFamily="18" charset="0"/>
                <a:cs typeface="Times New Roman" panose="02020603050405020304" pitchFamily="18" charset="0"/>
              </a:rPr>
              <a:t>It consumes a lot of time</a:t>
            </a:r>
          </a:p>
          <a:p>
            <a:pPr>
              <a:lnSpc>
                <a:spcPct val="100000"/>
              </a:lnSpc>
            </a:pPr>
            <a:r>
              <a:rPr lang="en-US" sz="2400" dirty="0">
                <a:latin typeface="Times New Roman" panose="02020603050405020304" pitchFamily="18" charset="0"/>
                <a:cs typeface="Times New Roman" panose="02020603050405020304" pitchFamily="18" charset="0"/>
              </a:rPr>
              <a:t>High computational cost</a:t>
            </a:r>
          </a:p>
          <a:p>
            <a:pPr>
              <a:lnSpc>
                <a:spcPct val="100000"/>
              </a:lnSpc>
            </a:pPr>
            <a:r>
              <a:rPr lang="en-US" sz="2400" dirty="0">
                <a:latin typeface="Times New Roman" panose="02020603050405020304" pitchFamily="18" charset="0"/>
                <a:cs typeface="Times New Roman" panose="02020603050405020304" pitchFamily="18" charset="0"/>
              </a:rPr>
              <a:t>Slower performance</a:t>
            </a:r>
          </a:p>
          <a:p>
            <a:pPr>
              <a:lnSpc>
                <a:spcPct val="100000"/>
              </a:lnSpc>
            </a:pPr>
            <a:r>
              <a:rPr lang="en-US" sz="2400" dirty="0">
                <a:latin typeface="Times New Roman" panose="02020603050405020304" pitchFamily="18" charset="0"/>
                <a:cs typeface="Times New Roman" panose="02020603050405020304" pitchFamily="18" charset="0"/>
              </a:rPr>
              <a:t>Limited real-time capability</a:t>
            </a:r>
          </a:p>
          <a:p>
            <a:pPr>
              <a:lnSpc>
                <a:spcPct val="100000"/>
              </a:lnSpc>
            </a:pPr>
            <a:r>
              <a:rPr lang="en-US" sz="2400" dirty="0">
                <a:latin typeface="Times New Roman" panose="02020603050405020304" pitchFamily="18" charset="0"/>
                <a:cs typeface="Times New Roman" panose="02020603050405020304" pitchFamily="18" charset="0"/>
              </a:rPr>
              <a:t>Moderate accuracy in complex conditions</a:t>
            </a:r>
            <a:endParaRPr lang="en-IN" sz="2400" dirty="0">
              <a:latin typeface="Times New Roman" panose="02020603050405020304" pitchFamily="18" charset="0"/>
              <a:cs typeface="Times New Roman" panose="02020603050405020304" pitchFamily="18" charset="0"/>
            </a:endParaRPr>
          </a:p>
        </p:txBody>
      </p:sp>
      <p:sp>
        <p:nvSpPr>
          <p:cNvPr id="8196" name="Slide Number Placeholder 1">
            <a:extLst>
              <a:ext uri="{FF2B5EF4-FFF2-40B4-BE49-F238E27FC236}">
                <a16:creationId xmlns:a16="http://schemas.microsoft.com/office/drawing/2014/main" id="{3CF78A20-5275-6C79-9E4F-122C92C786A5}"/>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6</a:t>
            </a:fld>
            <a:endParaRPr lang="en-IN" altLang="en-US" sz="1200" b="1" dirty="0">
              <a:solidFill>
                <a:srgbClr val="C00000"/>
              </a:solidFill>
            </a:endParaRPr>
          </a:p>
        </p:txBody>
      </p:sp>
      <p:pic>
        <p:nvPicPr>
          <p:cNvPr id="8197" name="Picture 5">
            <a:extLst>
              <a:ext uri="{FF2B5EF4-FFF2-40B4-BE49-F238E27FC236}">
                <a16:creationId xmlns:a16="http://schemas.microsoft.com/office/drawing/2014/main" id="{654773B0-074F-7246-B485-D0B1285C4D5D}"/>
              </a:ext>
            </a:extLst>
          </p:cNvPr>
          <p:cNvPicPr/>
          <p:nvPr/>
        </p:nvPicPr>
        <p:blipFill>
          <a:blip r:embed="rId2"/>
          <a:stretch>
            <a:fillRect/>
          </a:stretch>
        </p:blipFill>
        <p:spPr>
          <a:xfrm>
            <a:off x="11299825" y="0"/>
            <a:ext cx="901700" cy="993775"/>
          </a:xfrm>
          <a:prstGeom prst="rect">
            <a:avLst/>
          </a:prstGeom>
          <a:noFill/>
          <a:ln w="9525">
            <a:noFill/>
          </a:ln>
        </p:spPr>
      </p:pic>
      <p:pic>
        <p:nvPicPr>
          <p:cNvPr id="8198" name="Picture 5">
            <a:extLst>
              <a:ext uri="{FF2B5EF4-FFF2-40B4-BE49-F238E27FC236}">
                <a16:creationId xmlns:a16="http://schemas.microsoft.com/office/drawing/2014/main" id="{96512409-D52F-6373-905B-EFDABD41A42B}"/>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2255E20D-3344-AA0A-1DEF-2BE9C3351D03}"/>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17D0E10B-DACF-9356-081A-A6F12681FE35}"/>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8201" name="Picture 5">
            <a:extLst>
              <a:ext uri="{FF2B5EF4-FFF2-40B4-BE49-F238E27FC236}">
                <a16:creationId xmlns:a16="http://schemas.microsoft.com/office/drawing/2014/main" id="{818B1E80-E2AF-DBF6-D7EF-653B76951A5C}"/>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A6F9A29C-69FD-4ED0-B1AD-410FC9485B38}"/>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 Sem | Dept of Computational Intelligence| </a:t>
            </a:r>
            <a:r>
              <a:rPr lang="en-IN" sz="1600" b="1" dirty="0">
                <a:solidFill>
                  <a:schemeClr val="tx1"/>
                </a:solidFill>
                <a:latin typeface="Arial Rounded MT Bold" pitchFamily="34" charset="0"/>
              </a:rPr>
              <a:t>Project Phase - I </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Project Review</a:t>
            </a:r>
          </a:p>
        </p:txBody>
      </p:sp>
      <p:sp>
        <p:nvSpPr>
          <p:cNvPr id="6" name="TextBox 5">
            <a:extLst>
              <a:ext uri="{FF2B5EF4-FFF2-40B4-BE49-F238E27FC236}">
                <a16:creationId xmlns:a16="http://schemas.microsoft.com/office/drawing/2014/main" id="{F0FBA5E9-F151-6A35-F8DA-8E9397EB02C2}"/>
              </a:ext>
            </a:extLst>
          </p:cNvPr>
          <p:cNvSpPr txBox="1"/>
          <p:nvPr/>
        </p:nvSpPr>
        <p:spPr>
          <a:xfrm>
            <a:off x="2147467" y="-97079"/>
            <a:ext cx="6588967" cy="338554"/>
          </a:xfrm>
          <a:prstGeom prst="rect">
            <a:avLst/>
          </a:prstGeom>
          <a:noFill/>
        </p:spPr>
        <p:txBody>
          <a:bodyPr wrap="square" rtlCol="0">
            <a:spAutoFit/>
          </a:bodyPr>
          <a:lstStyle/>
          <a:p>
            <a:pPr algn="ctr"/>
            <a:r>
              <a:rPr lang="en-US" sz="1600" b="1" dirty="0">
                <a:latin typeface="Arial Rounded MT Bold" panose="020F0704030504030204" pitchFamily="34" charset="0"/>
                <a:cs typeface="Arial" panose="020B0604020202020204" pitchFamily="34" charset="0"/>
              </a:rPr>
              <a:t>MALLA REDDY COLLEGE OF ENGINEERING AND TECHNOLOGY</a:t>
            </a:r>
            <a:endParaRPr lang="aa-ET" sz="1600" b="1" dirty="0">
              <a:latin typeface="Arial Rounded MT Bold" panose="020F0704030504030204" pitchFamily="34" charset="0"/>
              <a:cs typeface="Arial" panose="020B0604020202020204" pitchFamily="34" charset="0"/>
            </a:endParaRPr>
          </a:p>
        </p:txBody>
      </p:sp>
    </p:spTree>
    <p:extLst>
      <p:ext uri="{BB962C8B-B14F-4D97-AF65-F5344CB8AC3E}">
        <p14:creationId xmlns:p14="http://schemas.microsoft.com/office/powerpoint/2010/main" val="447184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38200" y="365125"/>
            <a:ext cx="10515600" cy="777875"/>
          </a:xfrm>
        </p:spPr>
        <p:txBody>
          <a:bodyPr vert="horz" wrap="square" lIns="91440" tIns="45720" rIns="91440" bIns="45720" anchor="ctr" anchorCtr="0"/>
          <a:lstStyle/>
          <a:p>
            <a:pPr eaLnBrk="1" hangingPunct="1"/>
            <a:r>
              <a:rPr lang="en-IN" altLang="en-US" sz="4000" b="1" dirty="0">
                <a:solidFill>
                  <a:srgbClr val="00B0F0"/>
                </a:solidFill>
                <a:latin typeface="Times New Roman" panose="02020603050405020304" pitchFamily="18" charset="0"/>
              </a:rPr>
              <a:t>Proposed System</a:t>
            </a:r>
          </a:p>
        </p:txBody>
      </p:sp>
      <p:sp>
        <p:nvSpPr>
          <p:cNvPr id="9219" name="Content Placeholder 2"/>
          <p:cNvSpPr>
            <a:spLocks noGrp="1"/>
          </p:cNvSpPr>
          <p:nvPr>
            <p:ph idx="1"/>
          </p:nvPr>
        </p:nvSpPr>
        <p:spPr>
          <a:xfrm>
            <a:off x="784225" y="1217930"/>
            <a:ext cx="10515600" cy="4963796"/>
          </a:xfrm>
        </p:spPr>
        <p:txBody>
          <a:bodyPr vert="horz" wrap="square" lIns="91440" tIns="45720" rIns="91440" bIns="45720" anchor="t" anchorCtr="0"/>
          <a:lstStyle/>
          <a:p>
            <a:pPr algn="just"/>
            <a:r>
              <a:rPr lang="en-US" sz="2400" dirty="0">
                <a:latin typeface="Times New Roman" panose="02020603050405020304" pitchFamily="18" charset="0"/>
                <a:cs typeface="Times New Roman" panose="02020603050405020304" pitchFamily="18" charset="0"/>
              </a:rPr>
              <a:t>The proposed system uses </a:t>
            </a:r>
            <a:r>
              <a:rPr lang="en-US" sz="2400" dirty="0" err="1">
                <a:latin typeface="Times New Roman" panose="02020603050405020304" pitchFamily="18" charset="0"/>
                <a:cs typeface="Times New Roman" panose="02020603050405020304" pitchFamily="18" charset="0"/>
              </a:rPr>
              <a:t>ResNet</a:t>
            </a:r>
            <a:r>
              <a:rPr lang="en-US" sz="2400" dirty="0">
                <a:latin typeface="Times New Roman" panose="02020603050405020304" pitchFamily="18" charset="0"/>
                <a:cs typeface="Times New Roman" panose="02020603050405020304" pitchFamily="18" charset="0"/>
              </a:rPr>
              <a:t> for railway track detection.</a:t>
            </a:r>
          </a:p>
          <a:p>
            <a:pPr algn="just"/>
            <a:r>
              <a:rPr lang="en-US" sz="2400" dirty="0">
                <a:latin typeface="Times New Roman" panose="02020603050405020304" pitchFamily="18" charset="0"/>
                <a:cs typeface="Times New Roman" panose="02020603050405020304" pitchFamily="18" charset="0"/>
              </a:rPr>
              <a:t>It is a deep learning model that classifies images as track or non-track.</a:t>
            </a:r>
          </a:p>
          <a:p>
            <a:pPr algn="just"/>
            <a:r>
              <a:rPr lang="en-US" sz="2400" dirty="0" err="1">
                <a:latin typeface="Times New Roman" panose="02020603050405020304" pitchFamily="18" charset="0"/>
                <a:cs typeface="Times New Roman" panose="02020603050405020304" pitchFamily="18" charset="0"/>
              </a:rPr>
              <a:t>ResNet</a:t>
            </a:r>
            <a:r>
              <a:rPr lang="en-US" sz="2400" dirty="0">
                <a:latin typeface="Times New Roman" panose="02020603050405020304" pitchFamily="18" charset="0"/>
                <a:cs typeface="Times New Roman" panose="02020603050405020304" pitchFamily="18" charset="0"/>
              </a:rPr>
              <a:t> uses residual (skip) connections, allowing deeper learning and better accuracy.</a:t>
            </a:r>
          </a:p>
          <a:p>
            <a:pPr algn="just"/>
            <a:r>
              <a:rPr lang="en-US" sz="2400" dirty="0">
                <a:latin typeface="Times New Roman" panose="02020603050405020304" pitchFamily="18" charset="0"/>
                <a:cs typeface="Times New Roman" panose="02020603050405020304" pitchFamily="18" charset="0"/>
              </a:rPr>
              <a:t>It overcomes the limitations of </a:t>
            </a:r>
            <a:r>
              <a:rPr lang="en-US" sz="2400" dirty="0" err="1">
                <a:latin typeface="Times New Roman" panose="02020603050405020304" pitchFamily="18" charset="0"/>
                <a:cs typeface="Times New Roman" panose="02020603050405020304" pitchFamily="18" charset="0"/>
              </a:rPr>
              <a:t>SegNet</a:t>
            </a:r>
            <a:r>
              <a:rPr lang="en-US" sz="2400" dirty="0">
                <a:latin typeface="Times New Roman" panose="02020603050405020304" pitchFamily="18" charset="0"/>
                <a:cs typeface="Times New Roman" panose="02020603050405020304" pitchFamily="18" charset="0"/>
              </a:rPr>
              <a:t> by improving speed and classification performance.</a:t>
            </a:r>
          </a:p>
          <a:p>
            <a:pPr algn="just"/>
            <a:r>
              <a:rPr lang="en-US" sz="2400" dirty="0">
                <a:latin typeface="Times New Roman" panose="02020603050405020304" pitchFamily="18" charset="0"/>
                <a:cs typeface="Times New Roman" panose="02020603050405020304" pitchFamily="18" charset="0"/>
              </a:rPr>
              <a:t>Works efficiently in complex environments like low light, shadows, and noise.</a:t>
            </a:r>
          </a:p>
          <a:p>
            <a:pPr algn="just"/>
            <a:r>
              <a:rPr lang="en-US" sz="2400" dirty="0">
                <a:latin typeface="Times New Roman" panose="02020603050405020304" pitchFamily="18" charset="0"/>
                <a:cs typeface="Times New Roman" panose="02020603050405020304" pitchFamily="18" charset="0"/>
              </a:rPr>
              <a:t>Provides fast and accurate predictions, enabling real-time monitoring.</a:t>
            </a:r>
          </a:p>
        </p:txBody>
      </p:sp>
      <p:sp>
        <p:nvSpPr>
          <p:cNvPr id="9220" name="Slide Number Placeholder 1"/>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7</a:t>
            </a:fld>
            <a:endParaRPr lang="en-IN" altLang="en-US" sz="1200" b="1" dirty="0">
              <a:solidFill>
                <a:srgbClr val="C00000"/>
              </a:solidFill>
            </a:endParaRPr>
          </a:p>
        </p:txBody>
      </p:sp>
      <p:pic>
        <p:nvPicPr>
          <p:cNvPr id="9221" name="Picture 5"/>
          <p:cNvPicPr/>
          <p:nvPr/>
        </p:nvPicPr>
        <p:blipFill>
          <a:blip r:embed="rId2"/>
          <a:stretch>
            <a:fillRect/>
          </a:stretch>
        </p:blipFill>
        <p:spPr>
          <a:xfrm>
            <a:off x="11299825" y="0"/>
            <a:ext cx="901700" cy="993775"/>
          </a:xfrm>
          <a:prstGeom prst="rect">
            <a:avLst/>
          </a:prstGeom>
          <a:noFill/>
          <a:ln w="9525">
            <a:noFill/>
          </a:ln>
        </p:spPr>
      </p:pic>
      <p:pic>
        <p:nvPicPr>
          <p:cNvPr id="9222"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9225" name="Picture 5"/>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 Sem | Dept of Computational Intelligence| </a:t>
            </a:r>
            <a:r>
              <a:rPr lang="en-IN" sz="1600" b="1" dirty="0">
                <a:solidFill>
                  <a:schemeClr val="tx1"/>
                </a:solidFill>
                <a:latin typeface="Arial Rounded MT Bold" pitchFamily="34" charset="0"/>
              </a:rPr>
              <a:t>Project Phase - I </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Project Review</a:t>
            </a:r>
          </a:p>
        </p:txBody>
      </p:sp>
      <p:sp>
        <p:nvSpPr>
          <p:cNvPr id="6" name="TextBox 5">
            <a:extLst>
              <a:ext uri="{FF2B5EF4-FFF2-40B4-BE49-F238E27FC236}">
                <a16:creationId xmlns:a16="http://schemas.microsoft.com/office/drawing/2014/main" id="{B4C319C0-F36D-E98B-7C8B-5BF000781810}"/>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aa-ET" sz="1600" b="1" dirty="0">
              <a:latin typeface="Arial Rounded MT Bold" panose="020F070403050403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662D1-A6FE-ADE0-2E8C-2BF20453108C}"/>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D807DA6F-517A-F1EB-16D9-98A8386912BB}"/>
              </a:ext>
            </a:extLst>
          </p:cNvPr>
          <p:cNvSpPr>
            <a:spLocks noGrp="1"/>
          </p:cNvSpPr>
          <p:nvPr>
            <p:ph type="title"/>
          </p:nvPr>
        </p:nvSpPr>
        <p:spPr>
          <a:xfrm>
            <a:off x="838200" y="524118"/>
            <a:ext cx="10515600" cy="777875"/>
          </a:xfrm>
        </p:spPr>
        <p:txBody>
          <a:bodyPr vert="horz" wrap="square" lIns="91440" tIns="45720" rIns="91440" bIns="45720" anchor="ctr" anchorCtr="0"/>
          <a:lstStyle/>
          <a:p>
            <a:pPr eaLnBrk="1" hangingPunct="1"/>
            <a:r>
              <a:rPr lang="en-US" sz="4000" b="1" i="0" strike="noStrike" kern="1200" dirty="0">
                <a:solidFill>
                  <a:srgbClr val="00B0F0"/>
                </a:solidFill>
                <a:effectLst/>
                <a:latin typeface="Times New Roman" panose="02020603050405020304" pitchFamily="18" charset="0"/>
                <a:cs typeface="Times New Roman" panose="02020603050405020304" pitchFamily="18" charset="0"/>
              </a:rPr>
              <a:t>Advantages of </a:t>
            </a:r>
            <a:r>
              <a:rPr lang="en-IN" altLang="en-US" sz="4000" b="1" dirty="0">
                <a:solidFill>
                  <a:srgbClr val="00B0F0"/>
                </a:solidFill>
                <a:latin typeface="Times New Roman" panose="02020603050405020304" pitchFamily="18" charset="0"/>
              </a:rPr>
              <a:t>Proposed System</a:t>
            </a:r>
          </a:p>
        </p:txBody>
      </p:sp>
      <p:sp>
        <p:nvSpPr>
          <p:cNvPr id="9219" name="Content Placeholder 2">
            <a:extLst>
              <a:ext uri="{FF2B5EF4-FFF2-40B4-BE49-F238E27FC236}">
                <a16:creationId xmlns:a16="http://schemas.microsoft.com/office/drawing/2014/main" id="{684D93BA-1029-709F-8F61-AAF1A12DDD52}"/>
              </a:ext>
            </a:extLst>
          </p:cNvPr>
          <p:cNvSpPr>
            <a:spLocks noGrp="1"/>
          </p:cNvSpPr>
          <p:nvPr>
            <p:ph idx="1"/>
          </p:nvPr>
        </p:nvSpPr>
        <p:spPr>
          <a:xfrm>
            <a:off x="784225" y="1447483"/>
            <a:ext cx="10515600" cy="4734243"/>
          </a:xfrm>
        </p:spPr>
        <p:txBody>
          <a:bodyPr vert="horz" wrap="square" lIns="91440" tIns="45720" rIns="91440" bIns="45720" anchor="t" anchorCtr="0"/>
          <a:lstStyle/>
          <a:p>
            <a:r>
              <a:rPr lang="en-US" sz="2400" dirty="0">
                <a:latin typeface="Times New Roman" panose="02020603050405020304" pitchFamily="18" charset="0"/>
                <a:cs typeface="Times New Roman" panose="02020603050405020304" pitchFamily="18" charset="0"/>
              </a:rPr>
              <a:t>Fully Automated</a:t>
            </a:r>
          </a:p>
          <a:p>
            <a:pPr>
              <a:lnSpc>
                <a:spcPct val="100000"/>
              </a:lnSpc>
            </a:pPr>
            <a:r>
              <a:rPr lang="en-US" sz="2400" dirty="0">
                <a:latin typeface="Times New Roman" panose="02020603050405020304" pitchFamily="18" charset="0"/>
                <a:cs typeface="Times New Roman" panose="02020603050405020304" pitchFamily="18" charset="0"/>
              </a:rPr>
              <a:t>High Accuracy</a:t>
            </a:r>
          </a:p>
          <a:p>
            <a:pPr>
              <a:lnSpc>
                <a:spcPct val="100000"/>
              </a:lnSpc>
            </a:pPr>
            <a:r>
              <a:rPr lang="en-US" sz="2400" dirty="0">
                <a:latin typeface="Times New Roman" panose="02020603050405020304" pitchFamily="18" charset="0"/>
                <a:cs typeface="Times New Roman" panose="02020603050405020304" pitchFamily="18" charset="0"/>
              </a:rPr>
              <a:t>Real-Time Detection</a:t>
            </a:r>
            <a:endParaRPr lang="en-IN" sz="2400" b="1" dirty="0">
              <a:latin typeface="Times New Roman" panose="02020603050405020304" pitchFamily="18" charset="0"/>
              <a:cs typeface="Times New Roman" panose="02020603050405020304" pitchFamily="18" charset="0"/>
            </a:endParaRPr>
          </a:p>
          <a:p>
            <a:pPr>
              <a:lnSpc>
                <a:spcPct val="100000"/>
              </a:lnSpc>
            </a:pPr>
            <a:r>
              <a:rPr lang="en-US" sz="2400" dirty="0">
                <a:latin typeface="Times New Roman" panose="02020603050405020304" pitchFamily="18" charset="0"/>
                <a:cs typeface="Times New Roman" panose="02020603050405020304" pitchFamily="18" charset="0"/>
              </a:rPr>
              <a:t>Low Cost in Long Term</a:t>
            </a:r>
          </a:p>
          <a:p>
            <a:pPr>
              <a:lnSpc>
                <a:spcPct val="100000"/>
              </a:lnSpc>
            </a:pPr>
            <a:r>
              <a:rPr lang="en-IN" sz="2400" dirty="0">
                <a:latin typeface="Times New Roman" panose="02020603050405020304" pitchFamily="18" charset="0"/>
                <a:cs typeface="Times New Roman" panose="02020603050405020304" pitchFamily="18" charset="0"/>
              </a:rPr>
              <a:t>Improves Safety</a:t>
            </a:r>
          </a:p>
        </p:txBody>
      </p:sp>
      <p:sp>
        <p:nvSpPr>
          <p:cNvPr id="9220" name="Slide Number Placeholder 1">
            <a:extLst>
              <a:ext uri="{FF2B5EF4-FFF2-40B4-BE49-F238E27FC236}">
                <a16:creationId xmlns:a16="http://schemas.microsoft.com/office/drawing/2014/main" id="{D7AEC0FB-65C9-09E2-6019-6B62F3FC2B38}"/>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8</a:t>
            </a:fld>
            <a:endParaRPr lang="en-IN" altLang="en-US" sz="1200" b="1" dirty="0">
              <a:solidFill>
                <a:srgbClr val="C00000"/>
              </a:solidFill>
            </a:endParaRPr>
          </a:p>
        </p:txBody>
      </p:sp>
      <p:pic>
        <p:nvPicPr>
          <p:cNvPr id="9221" name="Picture 5">
            <a:extLst>
              <a:ext uri="{FF2B5EF4-FFF2-40B4-BE49-F238E27FC236}">
                <a16:creationId xmlns:a16="http://schemas.microsoft.com/office/drawing/2014/main" id="{66B41B7E-0465-DCD3-347C-43DE009311CD}"/>
              </a:ext>
            </a:extLst>
          </p:cNvPr>
          <p:cNvPicPr/>
          <p:nvPr/>
        </p:nvPicPr>
        <p:blipFill>
          <a:blip r:embed="rId2"/>
          <a:stretch>
            <a:fillRect/>
          </a:stretch>
        </p:blipFill>
        <p:spPr>
          <a:xfrm>
            <a:off x="11299825" y="0"/>
            <a:ext cx="901700" cy="993775"/>
          </a:xfrm>
          <a:prstGeom prst="rect">
            <a:avLst/>
          </a:prstGeom>
          <a:noFill/>
          <a:ln w="9525">
            <a:noFill/>
          </a:ln>
        </p:spPr>
      </p:pic>
      <p:pic>
        <p:nvPicPr>
          <p:cNvPr id="9222" name="Picture 5">
            <a:extLst>
              <a:ext uri="{FF2B5EF4-FFF2-40B4-BE49-F238E27FC236}">
                <a16:creationId xmlns:a16="http://schemas.microsoft.com/office/drawing/2014/main" id="{5993E863-A92A-1EAA-9855-7C97AFD240EE}"/>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1B1217C9-9A9C-7325-C00A-B04344541D91}"/>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BFF6A4D7-5EEC-6A1A-9810-BF5DB077F413}"/>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9225" name="Picture 5">
            <a:extLst>
              <a:ext uri="{FF2B5EF4-FFF2-40B4-BE49-F238E27FC236}">
                <a16:creationId xmlns:a16="http://schemas.microsoft.com/office/drawing/2014/main" id="{900043C9-65FC-D54F-3D3A-0A0C61451635}"/>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DAEA0B05-3C53-A1C8-88EE-BD700F398603}"/>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 Sem | Dept of Computational Intelligence| </a:t>
            </a:r>
            <a:r>
              <a:rPr lang="en-IN" sz="1600" b="1" dirty="0">
                <a:solidFill>
                  <a:schemeClr val="tx1"/>
                </a:solidFill>
                <a:latin typeface="Arial Rounded MT Bold" pitchFamily="34" charset="0"/>
              </a:rPr>
              <a:t>Project Phase - I </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Project Review</a:t>
            </a:r>
          </a:p>
        </p:txBody>
      </p:sp>
      <p:sp>
        <p:nvSpPr>
          <p:cNvPr id="6" name="TextBox 5">
            <a:extLst>
              <a:ext uri="{FF2B5EF4-FFF2-40B4-BE49-F238E27FC236}">
                <a16:creationId xmlns:a16="http://schemas.microsoft.com/office/drawing/2014/main" id="{C71A4EB6-D601-ADF4-0205-DB37117DE5E8}"/>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aa-ET" sz="1600" b="1" dirty="0">
              <a:latin typeface="Arial Rounded MT Bold" panose="020F0704030504030204" pitchFamily="34" charset="0"/>
              <a:cs typeface="Arial" panose="020B0604020202020204" pitchFamily="34" charset="0"/>
            </a:endParaRPr>
          </a:p>
        </p:txBody>
      </p:sp>
    </p:spTree>
    <p:extLst>
      <p:ext uri="{BB962C8B-B14F-4D97-AF65-F5344CB8AC3E}">
        <p14:creationId xmlns:p14="http://schemas.microsoft.com/office/powerpoint/2010/main" val="3276029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667000" y="2246811"/>
            <a:ext cx="6858000" cy="1410789"/>
          </a:xfrm>
        </p:spPr>
        <p:txBody>
          <a:bodyPr vert="horz" wrap="square" lIns="91440" tIns="45720" rIns="91440" bIns="45720" numCol="1" rtlCol="0" anchor="b"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sz="5400" b="1" i="0" u="none" strike="noStrike" kern="1200" cap="none" spc="0" normalizeH="0" baseline="0" noProof="0" dirty="0">
                <a:ln>
                  <a:noFill/>
                </a:ln>
                <a:solidFill>
                  <a:srgbClr val="00B0F0"/>
                </a:solidFill>
                <a:effectLst/>
                <a:uLnTx/>
                <a:uFillTx/>
                <a:latin typeface="Times New Roman" panose="02020603050405020304" pitchFamily="18" charset="0"/>
                <a:ea typeface="+mj-ea"/>
                <a:cs typeface="Times New Roman" panose="02020603050405020304" pitchFamily="18" charset="0"/>
              </a:rPr>
              <a:t>System Requirements</a:t>
            </a:r>
          </a:p>
        </p:txBody>
      </p:sp>
      <p:sp>
        <p:nvSpPr>
          <p:cNvPr id="18435" name="Slide Number Placeholder 1"/>
          <p:cNvSpPr txBox="1">
            <a:spLocks noGrp="1"/>
          </p:cNvSpPr>
          <p:nvPr>
            <p:ph type="sldNum" sz="quarter" idx="4"/>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9</a:t>
            </a:fld>
            <a:endParaRPr lang="en-IN" altLang="en-US" sz="1200" b="1" dirty="0">
              <a:solidFill>
                <a:srgbClr val="C00000"/>
              </a:solidFill>
            </a:endParaRPr>
          </a:p>
        </p:txBody>
      </p:sp>
      <p:pic>
        <p:nvPicPr>
          <p:cNvPr id="18436" name="Picture 5"/>
          <p:cNvPicPr/>
          <p:nvPr/>
        </p:nvPicPr>
        <p:blipFill>
          <a:blip r:embed="rId2"/>
          <a:stretch>
            <a:fillRect/>
          </a:stretch>
        </p:blipFill>
        <p:spPr>
          <a:xfrm>
            <a:off x="11290300" y="0"/>
            <a:ext cx="901700" cy="993775"/>
          </a:xfrm>
          <a:prstGeom prst="rect">
            <a:avLst/>
          </a:prstGeom>
          <a:noFill/>
          <a:ln w="9525">
            <a:noFill/>
          </a:ln>
        </p:spPr>
      </p:pic>
      <p:pic>
        <p:nvPicPr>
          <p:cNvPr id="18437" name="Picture 5"/>
          <p:cNvPicPr/>
          <p:nvPr/>
        </p:nvPicPr>
        <p:blipFill>
          <a:blip r:embed="rId2"/>
          <a:stretch>
            <a:fillRect/>
          </a:stretch>
        </p:blipFill>
        <p:spPr>
          <a:xfrm>
            <a:off x="11290300" y="0"/>
            <a:ext cx="901700" cy="993775"/>
          </a:xfrm>
          <a:prstGeom prst="rect">
            <a:avLst/>
          </a:prstGeom>
          <a:noFill/>
          <a:ln w="9525">
            <a:noFill/>
          </a:ln>
        </p:spPr>
      </p:pic>
      <p:sp>
        <p:nvSpPr>
          <p:cNvPr id="5"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6" name="Rectangle 5"/>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8440" name="Picture 6"/>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 Sem | Dept of Computational Intelligence| </a:t>
            </a:r>
            <a:r>
              <a:rPr lang="en-IN" sz="1600" b="1" dirty="0">
                <a:solidFill>
                  <a:schemeClr val="tx1"/>
                </a:solidFill>
                <a:latin typeface="Arial Rounded MT Bold" pitchFamily="34" charset="0"/>
              </a:rPr>
              <a:t>Project Phase - I </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Project Review</a:t>
            </a:r>
          </a:p>
        </p:txBody>
      </p:sp>
      <p:sp>
        <p:nvSpPr>
          <p:cNvPr id="7" name="TextBox 6">
            <a:extLst>
              <a:ext uri="{FF2B5EF4-FFF2-40B4-BE49-F238E27FC236}">
                <a16:creationId xmlns:a16="http://schemas.microsoft.com/office/drawing/2014/main" id="{5E2F2D89-A81C-9C98-D4DA-29E97D23165C}"/>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aa-ET" sz="1600" b="1" dirty="0">
              <a:latin typeface="Arial Rounded MT Bold" panose="020F070403050403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Content Placeholder 2"/>
          <p:cNvSpPr>
            <a:spLocks noGrp="1"/>
          </p:cNvSpPr>
          <p:nvPr>
            <p:ph idx="1"/>
          </p:nvPr>
        </p:nvSpPr>
        <p:spPr>
          <a:xfrm>
            <a:off x="400050" y="1671070"/>
            <a:ext cx="10658475" cy="3240564"/>
          </a:xfrm>
        </p:spPr>
        <p:txBody>
          <a:bodyPr vert="horz" wrap="square" lIns="91440" tIns="45720" rIns="91440" bIns="45720" anchor="t" anchorCtr="0"/>
          <a:lstStyle/>
          <a:p>
            <a:pPr>
              <a:lnSpc>
                <a:spcPct val="100000"/>
              </a:lnSpc>
            </a:pPr>
            <a:r>
              <a:rPr lang="en-US" sz="2400" dirty="0">
                <a:latin typeface="Times New Roman" panose="02020603050405020304" pitchFamily="18" charset="0"/>
                <a:cs typeface="Times New Roman" panose="02020603050405020304" pitchFamily="18" charset="0"/>
              </a:rPr>
              <a:t>Programming Language : Python 3.12</a:t>
            </a:r>
          </a:p>
          <a:p>
            <a:pPr>
              <a:lnSpc>
                <a:spcPct val="100000"/>
              </a:lnSpc>
            </a:pPr>
            <a:r>
              <a:rPr lang="en-US" sz="2400" dirty="0">
                <a:latin typeface="Times New Roman" panose="02020603050405020304" pitchFamily="18" charset="0"/>
                <a:cs typeface="Times New Roman" panose="02020603050405020304" pitchFamily="18" charset="0"/>
              </a:rPr>
              <a:t>Operating System : Windows 11</a:t>
            </a:r>
          </a:p>
          <a:p>
            <a:pPr>
              <a:lnSpc>
                <a:spcPct val="100000"/>
              </a:lnSpc>
            </a:pPr>
            <a:r>
              <a:rPr lang="en-US" sz="2400" dirty="0">
                <a:latin typeface="Times New Roman" panose="02020603050405020304" pitchFamily="18" charset="0"/>
                <a:cs typeface="Times New Roman" panose="02020603050405020304" pitchFamily="18" charset="0"/>
              </a:rPr>
              <a:t>IDE : </a:t>
            </a:r>
            <a:r>
              <a:rPr lang="en-US" sz="2400" dirty="0" err="1">
                <a:latin typeface="Times New Roman" panose="02020603050405020304" pitchFamily="18" charset="0"/>
                <a:cs typeface="Times New Roman" panose="02020603050405020304" pitchFamily="18" charset="0"/>
              </a:rPr>
              <a:t>Jupyter</a:t>
            </a:r>
            <a:r>
              <a:rPr lang="en-US" sz="2400" dirty="0">
                <a:latin typeface="Times New Roman" panose="02020603050405020304" pitchFamily="18" charset="0"/>
                <a:cs typeface="Times New Roman" panose="02020603050405020304" pitchFamily="18" charset="0"/>
              </a:rPr>
              <a:t> Notebook</a:t>
            </a:r>
          </a:p>
          <a:p>
            <a:pPr>
              <a:lnSpc>
                <a:spcPct val="100000"/>
              </a:lnSpc>
            </a:pPr>
            <a:r>
              <a:rPr lang="en-US" sz="2400" dirty="0">
                <a:latin typeface="Times New Roman" panose="02020603050405020304" pitchFamily="18" charset="0"/>
                <a:cs typeface="Times New Roman" panose="02020603050405020304" pitchFamily="18" charset="0"/>
              </a:rPr>
              <a:t>Libraries : OpenCV, TensorFlow</a:t>
            </a:r>
          </a:p>
        </p:txBody>
      </p:sp>
      <p:sp>
        <p:nvSpPr>
          <p:cNvPr id="19460" name="Slide Number Placeholder 1"/>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10</a:t>
            </a:fld>
            <a:endParaRPr lang="en-IN" altLang="en-US" sz="1200" b="1" dirty="0">
              <a:solidFill>
                <a:srgbClr val="C00000"/>
              </a:solidFill>
            </a:endParaRPr>
          </a:p>
        </p:txBody>
      </p:sp>
      <p:pic>
        <p:nvPicPr>
          <p:cNvPr id="19461" name="Picture 5"/>
          <p:cNvPicPr/>
          <p:nvPr/>
        </p:nvPicPr>
        <p:blipFill>
          <a:blip r:embed="rId2"/>
          <a:stretch>
            <a:fillRect/>
          </a:stretch>
        </p:blipFill>
        <p:spPr>
          <a:xfrm>
            <a:off x="11290300" y="0"/>
            <a:ext cx="901700" cy="993775"/>
          </a:xfrm>
          <a:prstGeom prst="rect">
            <a:avLst/>
          </a:prstGeom>
          <a:noFill/>
          <a:ln w="9525">
            <a:noFill/>
          </a:ln>
        </p:spPr>
      </p:pic>
      <p:pic>
        <p:nvPicPr>
          <p:cNvPr id="19462"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9465" name="Picture 5"/>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 Sem | Dept of Computational Intelligence| </a:t>
            </a:r>
            <a:r>
              <a:rPr lang="en-IN" sz="1600" b="1" dirty="0">
                <a:solidFill>
                  <a:schemeClr val="tx1"/>
                </a:solidFill>
                <a:latin typeface="Arial Rounded MT Bold" pitchFamily="34" charset="0"/>
              </a:rPr>
              <a:t>Project Phase - I </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Project Review</a:t>
            </a:r>
          </a:p>
        </p:txBody>
      </p:sp>
      <p:sp>
        <p:nvSpPr>
          <p:cNvPr id="7" name="Title 1">
            <a:extLst>
              <a:ext uri="{FF2B5EF4-FFF2-40B4-BE49-F238E27FC236}">
                <a16:creationId xmlns:a16="http://schemas.microsoft.com/office/drawing/2014/main" id="{D98DD94F-B423-14DD-DA15-83DDD8C6D77C}"/>
              </a:ext>
            </a:extLst>
          </p:cNvPr>
          <p:cNvSpPr txBox="1">
            <a:spLocks/>
          </p:cNvSpPr>
          <p:nvPr/>
        </p:nvSpPr>
        <p:spPr>
          <a:xfrm>
            <a:off x="461010" y="509588"/>
            <a:ext cx="11410950" cy="1228725"/>
          </a:xfrm>
          <a:prstGeom prst="rect">
            <a:avLst/>
          </a:prstGeom>
          <a:noFill/>
          <a:ln w="9525">
            <a:noFill/>
          </a:ln>
        </p:spPr>
        <p:txBody>
          <a:bodyPr vert="horz" wrap="square" lIns="91440" tIns="45720" rIns="91440" bIns="45720" anchor="ctr" anchorCtr="0"/>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hangingPunct="1"/>
            <a:r>
              <a:rPr lang="en-IN" altLang="en-US" sz="4000" b="1" dirty="0">
                <a:solidFill>
                  <a:srgbClr val="00B0F0"/>
                </a:solidFill>
                <a:latin typeface="Times New Roman" panose="02020603050405020304" pitchFamily="18" charset="0"/>
              </a:rPr>
              <a:t>Software Requirements</a:t>
            </a:r>
          </a:p>
        </p:txBody>
      </p:sp>
      <p:sp>
        <p:nvSpPr>
          <p:cNvPr id="6" name="TextBox 5">
            <a:extLst>
              <a:ext uri="{FF2B5EF4-FFF2-40B4-BE49-F238E27FC236}">
                <a16:creationId xmlns:a16="http://schemas.microsoft.com/office/drawing/2014/main" id="{9AAFF511-B772-2CF7-AD03-B7B712E13132}"/>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aa-ET" sz="1600" b="1" dirty="0">
              <a:latin typeface="Arial Rounded MT Bold" panose="020F070403050403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00050" y="495300"/>
            <a:ext cx="11410950" cy="1228725"/>
          </a:xfrm>
        </p:spPr>
        <p:txBody>
          <a:bodyPr vert="horz" wrap="square" lIns="91440" tIns="45720" rIns="91440" bIns="45720" anchor="ctr" anchorCtr="0"/>
          <a:lstStyle/>
          <a:p>
            <a:pPr eaLnBrk="1" hangingPunct="1"/>
            <a:r>
              <a:rPr lang="en-IN" altLang="en-US" sz="4000" b="1" dirty="0">
                <a:solidFill>
                  <a:srgbClr val="00B0F0"/>
                </a:solidFill>
                <a:latin typeface="Times New Roman" panose="02020603050405020304" pitchFamily="18" charset="0"/>
              </a:rPr>
              <a:t>Hardware Requirements</a:t>
            </a:r>
          </a:p>
        </p:txBody>
      </p:sp>
      <p:sp>
        <p:nvSpPr>
          <p:cNvPr id="20483" name="Content Placeholder 2"/>
          <p:cNvSpPr>
            <a:spLocks noGrp="1"/>
          </p:cNvSpPr>
          <p:nvPr>
            <p:ph idx="1"/>
          </p:nvPr>
        </p:nvSpPr>
        <p:spPr>
          <a:xfrm>
            <a:off x="400050" y="1683054"/>
            <a:ext cx="10734675" cy="2164800"/>
          </a:xfrm>
        </p:spPr>
        <p:txBody>
          <a:bodyPr vert="horz" wrap="square" lIns="91440" tIns="45720" rIns="91440" bIns="45720" anchor="t" anchorCtr="0"/>
          <a:lstStyle/>
          <a:p>
            <a:pPr algn="just"/>
            <a:r>
              <a:rPr lang="en-US" altLang="zh-CN" sz="2400" dirty="0">
                <a:latin typeface="Times New Roman" panose="02020603050405020304" pitchFamily="18" charset="0"/>
                <a:ea typeface="SimSun" panose="02010600030101010101" pitchFamily="2" charset="-122"/>
              </a:rPr>
              <a:t>Processor: Intel i5</a:t>
            </a:r>
            <a:endParaRPr lang="en-IN" altLang="en-US" sz="2400" dirty="0">
              <a:latin typeface="Times New Roman" panose="02020603050405020304" pitchFamily="18" charset="0"/>
            </a:endParaRPr>
          </a:p>
          <a:p>
            <a:pPr algn="just"/>
            <a:r>
              <a:rPr lang="en-US" altLang="zh-CN" sz="2400" dirty="0">
                <a:latin typeface="Times New Roman" panose="02020603050405020304" pitchFamily="18" charset="0"/>
                <a:ea typeface="SimSun" panose="02010600030101010101" pitchFamily="2" charset="-122"/>
              </a:rPr>
              <a:t>RAM: 8 GB</a:t>
            </a:r>
          </a:p>
          <a:p>
            <a:pPr algn="just"/>
            <a:r>
              <a:rPr lang="en-US" altLang="zh-CN" sz="2400" dirty="0">
                <a:latin typeface="Times New Roman" panose="02020603050405020304" pitchFamily="18" charset="0"/>
                <a:ea typeface="SimSun" panose="02010600030101010101" pitchFamily="2" charset="-122"/>
              </a:rPr>
              <a:t>Hard disk: 1 TB </a:t>
            </a:r>
          </a:p>
        </p:txBody>
      </p:sp>
      <p:sp>
        <p:nvSpPr>
          <p:cNvPr id="20484" name="Slide Number Placeholder 1"/>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11</a:t>
            </a:fld>
            <a:endParaRPr lang="en-IN" altLang="en-US" sz="1200" b="1" dirty="0">
              <a:solidFill>
                <a:srgbClr val="C00000"/>
              </a:solidFill>
            </a:endParaRPr>
          </a:p>
        </p:txBody>
      </p:sp>
      <p:pic>
        <p:nvPicPr>
          <p:cNvPr id="20485" name="Picture 5"/>
          <p:cNvPicPr/>
          <p:nvPr/>
        </p:nvPicPr>
        <p:blipFill>
          <a:blip r:embed="rId2"/>
          <a:stretch>
            <a:fillRect/>
          </a:stretch>
        </p:blipFill>
        <p:spPr>
          <a:xfrm>
            <a:off x="11290300" y="0"/>
            <a:ext cx="901700" cy="993775"/>
          </a:xfrm>
          <a:prstGeom prst="rect">
            <a:avLst/>
          </a:prstGeom>
          <a:noFill/>
          <a:ln w="9525">
            <a:noFill/>
          </a:ln>
        </p:spPr>
      </p:pic>
      <p:pic>
        <p:nvPicPr>
          <p:cNvPr id="20486"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9" name="Picture 5"/>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 Sem | Dept of Computational Intelligence| </a:t>
            </a:r>
            <a:r>
              <a:rPr lang="en-IN" sz="1600" b="1" dirty="0">
                <a:solidFill>
                  <a:schemeClr val="tx1"/>
                </a:solidFill>
                <a:latin typeface="Arial Rounded MT Bold" pitchFamily="34" charset="0"/>
              </a:rPr>
              <a:t>Project Phase - I </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Project Review</a:t>
            </a:r>
          </a:p>
        </p:txBody>
      </p:sp>
      <p:sp>
        <p:nvSpPr>
          <p:cNvPr id="7" name="TextBox 6">
            <a:extLst>
              <a:ext uri="{FF2B5EF4-FFF2-40B4-BE49-F238E27FC236}">
                <a16:creationId xmlns:a16="http://schemas.microsoft.com/office/drawing/2014/main" id="{6FD62A33-4545-1CCF-68CB-83AA39897C9B}"/>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aa-ET" sz="1600" b="1" dirty="0">
              <a:latin typeface="Arial Rounded MT Bold" panose="020F070403050403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4D5B7-4B99-A2F3-B6C0-C56A2E324135}"/>
              </a:ext>
            </a:extLst>
          </p:cNvPr>
          <p:cNvSpPr>
            <a:spLocks noGrp="1"/>
          </p:cNvSpPr>
          <p:nvPr>
            <p:ph type="title"/>
          </p:nvPr>
        </p:nvSpPr>
        <p:spPr>
          <a:xfrm>
            <a:off x="838200" y="2978331"/>
            <a:ext cx="10515600" cy="923109"/>
          </a:xfrm>
        </p:spPr>
        <p:txBody>
          <a:bodyPr/>
          <a:lstStyle/>
          <a:p>
            <a:r>
              <a:rPr lang="en-US" sz="5400" dirty="0">
                <a:latin typeface="Times New Roman" panose="02020603050405020304" pitchFamily="18" charset="0"/>
                <a:cs typeface="Times New Roman" panose="02020603050405020304" pitchFamily="18" charset="0"/>
              </a:rPr>
              <a:t>             </a:t>
            </a:r>
            <a:r>
              <a:rPr lang="en-US" sz="5400" b="1" dirty="0">
                <a:solidFill>
                  <a:srgbClr val="00B0F0"/>
                </a:solidFill>
                <a:latin typeface="Times New Roman" panose="02020603050405020304" pitchFamily="18" charset="0"/>
                <a:cs typeface="Times New Roman" panose="02020603050405020304" pitchFamily="18" charset="0"/>
              </a:rPr>
              <a:t>UML DIAGRAMS</a:t>
            </a:r>
            <a:endParaRPr lang="en-IN" sz="5400" b="1"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3302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7F9EC-DA22-A650-2FD3-76234BFE41D2}"/>
              </a:ext>
            </a:extLst>
          </p:cNvPr>
          <p:cNvSpPr>
            <a:spLocks noGrp="1"/>
          </p:cNvSpPr>
          <p:nvPr>
            <p:ph type="title"/>
          </p:nvPr>
        </p:nvSpPr>
        <p:spPr/>
        <p:txBody>
          <a:bodyPr/>
          <a:lstStyle/>
          <a:p>
            <a:r>
              <a:rPr lang="en-US" b="1" dirty="0">
                <a:solidFill>
                  <a:srgbClr val="00B0F0"/>
                </a:solidFill>
                <a:latin typeface="Times New Roman" panose="02020603050405020304" pitchFamily="18" charset="0"/>
                <a:cs typeface="Times New Roman" panose="02020603050405020304" pitchFamily="18" charset="0"/>
              </a:rPr>
              <a:t>Use Case Diagram</a:t>
            </a:r>
            <a:endParaRPr lang="en-IN" b="1" dirty="0">
              <a:solidFill>
                <a:srgbClr val="00B0F0"/>
              </a:solidFill>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19737D20-2EC8-B179-9A54-66A2BB7DCC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5322" y="1825625"/>
            <a:ext cx="6501356" cy="4351338"/>
          </a:xfrm>
          <a:prstGeom prst="rect">
            <a:avLst/>
          </a:prstGeom>
          <a:noFill/>
          <a:ln w="9525">
            <a:noFill/>
          </a:ln>
        </p:spPr>
      </p:pic>
    </p:spTree>
    <p:extLst>
      <p:ext uri="{BB962C8B-B14F-4D97-AF65-F5344CB8AC3E}">
        <p14:creationId xmlns:p14="http://schemas.microsoft.com/office/powerpoint/2010/main" val="3610126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C62F2-B326-3CD1-D30F-89B5E7DD618E}"/>
              </a:ext>
            </a:extLst>
          </p:cNvPr>
          <p:cNvSpPr>
            <a:spLocks noGrp="1"/>
          </p:cNvSpPr>
          <p:nvPr>
            <p:ph type="title"/>
          </p:nvPr>
        </p:nvSpPr>
        <p:spPr>
          <a:xfrm>
            <a:off x="838200" y="393117"/>
            <a:ext cx="10515600" cy="1325563"/>
          </a:xfrm>
        </p:spPr>
        <p:txBody>
          <a:bodyPr/>
          <a:lstStyle/>
          <a:p>
            <a:r>
              <a:rPr lang="en-US" b="1" dirty="0">
                <a:solidFill>
                  <a:srgbClr val="00B0F0"/>
                </a:solidFill>
                <a:latin typeface="Times New Roman" panose="02020603050405020304" pitchFamily="18" charset="0"/>
                <a:cs typeface="Times New Roman" panose="02020603050405020304" pitchFamily="18" charset="0"/>
              </a:rPr>
              <a:t>Activity</a:t>
            </a:r>
            <a:r>
              <a:rPr lang="en-US" sz="5400" b="1" dirty="0">
                <a:solidFill>
                  <a:srgbClr val="00B0F0"/>
                </a:solidFill>
                <a:latin typeface="Times New Roman" panose="02020603050405020304" pitchFamily="18" charset="0"/>
                <a:cs typeface="Times New Roman" panose="02020603050405020304" pitchFamily="18" charset="0"/>
              </a:rPr>
              <a:t> </a:t>
            </a:r>
            <a:r>
              <a:rPr lang="en-US" b="1" dirty="0">
                <a:solidFill>
                  <a:srgbClr val="00B0F0"/>
                </a:solidFill>
                <a:latin typeface="Times New Roman" panose="02020603050405020304" pitchFamily="18" charset="0"/>
                <a:cs typeface="Times New Roman" panose="02020603050405020304" pitchFamily="18" charset="0"/>
              </a:rPr>
              <a:t>Diagram</a:t>
            </a:r>
            <a:endParaRPr lang="en-IN" b="1" dirty="0">
              <a:solidFill>
                <a:srgbClr val="00B0F0"/>
              </a:solidFill>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58974AB6-1AB8-2060-2996-EBD7E4E9AFE2}"/>
              </a:ext>
            </a:extLst>
          </p:cNvPr>
          <p:cNvPicPr>
            <a:picLocks noGrp="1" noChangeAspect="1"/>
          </p:cNvPicPr>
          <p:nvPr>
            <p:ph idx="1"/>
          </p:nvPr>
        </p:nvPicPr>
        <p:blipFill>
          <a:blip r:embed="rId2"/>
          <a:stretch>
            <a:fillRect/>
          </a:stretch>
        </p:blipFill>
        <p:spPr>
          <a:xfrm>
            <a:off x="3326674" y="1506583"/>
            <a:ext cx="4304045" cy="4670380"/>
          </a:xfrm>
          <a:prstGeom prst="rect">
            <a:avLst/>
          </a:prstGeom>
        </p:spPr>
      </p:pic>
    </p:spTree>
    <p:extLst>
      <p:ext uri="{BB962C8B-B14F-4D97-AF65-F5344CB8AC3E}">
        <p14:creationId xmlns:p14="http://schemas.microsoft.com/office/powerpoint/2010/main" val="2234091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C041A-07D7-4C7B-A528-C90F38E94B07}"/>
              </a:ext>
            </a:extLst>
          </p:cNvPr>
          <p:cNvSpPr>
            <a:spLocks noGrp="1"/>
          </p:cNvSpPr>
          <p:nvPr>
            <p:ph type="title"/>
          </p:nvPr>
        </p:nvSpPr>
        <p:spPr/>
        <p:txBody>
          <a:bodyPr/>
          <a:lstStyle/>
          <a:p>
            <a:r>
              <a:rPr lang="en-US" b="1" dirty="0">
                <a:solidFill>
                  <a:srgbClr val="00B0F0"/>
                </a:solidFill>
                <a:latin typeface="Times New Roman" panose="02020603050405020304" pitchFamily="18" charset="0"/>
                <a:cs typeface="Times New Roman" panose="02020603050405020304" pitchFamily="18" charset="0"/>
              </a:rPr>
              <a:t>Data Flow Diagram</a:t>
            </a:r>
            <a:endParaRPr lang="en-IN" b="1" dirty="0">
              <a:solidFill>
                <a:srgbClr val="00B0F0"/>
              </a:solidFill>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95EED829-0504-455A-AB67-C6177C2AC1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893383" y="1825625"/>
            <a:ext cx="640523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1729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F2621-EFC0-A398-E92E-DA02DC54346C}"/>
              </a:ext>
            </a:extLst>
          </p:cNvPr>
          <p:cNvSpPr>
            <a:spLocks noGrp="1"/>
          </p:cNvSpPr>
          <p:nvPr>
            <p:ph type="title"/>
          </p:nvPr>
        </p:nvSpPr>
        <p:spPr/>
        <p:txBody>
          <a:bodyPr/>
          <a:lstStyle/>
          <a:p>
            <a:r>
              <a:rPr lang="en-US" b="1" dirty="0">
                <a:solidFill>
                  <a:srgbClr val="00B0F0"/>
                </a:solidFill>
                <a:latin typeface="Times New Roman" panose="02020603050405020304" pitchFamily="18" charset="0"/>
                <a:cs typeface="Times New Roman" panose="02020603050405020304" pitchFamily="18" charset="0"/>
              </a:rPr>
              <a:t>Sequence Diagram</a:t>
            </a:r>
            <a:endParaRPr lang="en-IN" b="1" dirty="0">
              <a:solidFill>
                <a:srgbClr val="00B0F0"/>
              </a:solidFill>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43958061-4BD6-DFA1-BD3B-AACC79F224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5632" y="1825625"/>
            <a:ext cx="7208613" cy="4351338"/>
          </a:xfrm>
          <a:prstGeom prst="rect">
            <a:avLst/>
          </a:prstGeom>
          <a:noFill/>
          <a:ln w="9525">
            <a:noFill/>
          </a:ln>
        </p:spPr>
      </p:pic>
    </p:spTree>
    <p:extLst>
      <p:ext uri="{BB962C8B-B14F-4D97-AF65-F5344CB8AC3E}">
        <p14:creationId xmlns:p14="http://schemas.microsoft.com/office/powerpoint/2010/main" val="2912259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8FB3C-E92A-07E3-F11C-C07433B76246}"/>
              </a:ext>
            </a:extLst>
          </p:cNvPr>
          <p:cNvSpPr>
            <a:spLocks noGrp="1"/>
          </p:cNvSpPr>
          <p:nvPr>
            <p:ph type="title"/>
          </p:nvPr>
        </p:nvSpPr>
        <p:spPr>
          <a:xfrm>
            <a:off x="838200" y="681037"/>
            <a:ext cx="10515600" cy="1217431"/>
          </a:xfrm>
        </p:spPr>
        <p:txBody>
          <a:bodyPr/>
          <a:lstStyle/>
          <a:p>
            <a:r>
              <a:rPr lang="en-US" b="1" dirty="0">
                <a:solidFill>
                  <a:srgbClr val="00B0F0"/>
                </a:solidFill>
                <a:latin typeface="Times New Roman" panose="02020603050405020304" pitchFamily="18" charset="0"/>
                <a:cs typeface="Times New Roman" panose="02020603050405020304" pitchFamily="18" charset="0"/>
              </a:rPr>
              <a:t>Conclusion</a:t>
            </a:r>
            <a:endParaRPr lang="en-IN" b="1" dirty="0">
              <a:solidFill>
                <a:srgbClr val="00B0F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52FD740-8278-41C4-EADC-8606199F1D88}"/>
              </a:ext>
            </a:extLst>
          </p:cNvPr>
          <p:cNvSpPr>
            <a:spLocks noGrp="1"/>
          </p:cNvSpPr>
          <p:nvPr>
            <p:ph idx="1"/>
          </p:nvPr>
        </p:nvSpPr>
        <p:spPr>
          <a:xfrm>
            <a:off x="838200" y="1985555"/>
            <a:ext cx="10515600" cy="4191408"/>
          </a:xfrm>
        </p:spPr>
        <p:txBody>
          <a:bodyPr/>
          <a:lstStyle/>
          <a:p>
            <a:pPr>
              <a:lnSpc>
                <a:spcPct val="100000"/>
              </a:lnSpc>
            </a:pPr>
            <a:r>
              <a:rPr lang="en-US" sz="2400" dirty="0">
                <a:latin typeface="Times New Roman" panose="02020603050405020304" pitchFamily="18" charset="0"/>
                <a:cs typeface="Times New Roman" panose="02020603050405020304" pitchFamily="18" charset="0"/>
              </a:rPr>
              <a:t>The project successfully demonstrates how deep learning can be applied to detect railway tracks automatically from images.</a:t>
            </a:r>
          </a:p>
          <a:p>
            <a:pPr>
              <a:lnSpc>
                <a:spcPct val="100000"/>
              </a:lnSpc>
            </a:pPr>
            <a:r>
              <a:rPr lang="en-US" sz="2400" dirty="0">
                <a:latin typeface="Times New Roman" panose="02020603050405020304" pitchFamily="18" charset="0"/>
                <a:cs typeface="Times New Roman" panose="02020603050405020304" pitchFamily="18" charset="0"/>
              </a:rPr>
              <a:t>The model performs well even in complex environments, making it suitable for real- world railway monitoring applications.</a:t>
            </a:r>
          </a:p>
          <a:p>
            <a:pPr>
              <a:lnSpc>
                <a:spcPct val="100000"/>
              </a:lnSpc>
            </a:pPr>
            <a:r>
              <a:rPr lang="en-US" sz="2400" dirty="0">
                <a:latin typeface="Times New Roman" panose="02020603050405020304" pitchFamily="18" charset="0"/>
                <a:cs typeface="Times New Roman" panose="02020603050405020304" pitchFamily="18" charset="0"/>
              </a:rPr>
              <a:t>Overall, the project shows the potential of Al-powered solutions in improving the safety, </a:t>
            </a:r>
            <a:r>
              <a:rPr lang="en-US" sz="2400" dirty="0" err="1">
                <a:latin typeface="Times New Roman" panose="02020603050405020304" pitchFamily="18" charset="0"/>
                <a:cs typeface="Times New Roman" panose="02020603050405020304" pitchFamily="18" charset="0"/>
              </a:rPr>
              <a:t>ef</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tiency</a:t>
            </a:r>
            <a:r>
              <a:rPr lang="en-US" sz="2400" dirty="0">
                <a:latin typeface="Times New Roman" panose="02020603050405020304" pitchFamily="18" charset="0"/>
                <a:cs typeface="Times New Roman" panose="02020603050405020304" pitchFamily="18" charset="0"/>
              </a:rPr>
              <a:t>, and reliability of railway infrastructure maintenance.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4823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B4053-FD78-1F5E-B3A0-F2976DD167BF}"/>
            </a:ext>
          </a:extLst>
        </p:cNvPr>
        <p:cNvGrpSpPr/>
        <p:nvPr/>
      </p:nvGrpSpPr>
      <p:grpSpPr>
        <a:xfrm>
          <a:off x="0" y="0"/>
          <a:ext cx="0" cy="0"/>
          <a:chOff x="0" y="0"/>
          <a:chExt cx="0" cy="0"/>
        </a:xfrm>
      </p:grpSpPr>
      <p:sp>
        <p:nvSpPr>
          <p:cNvPr id="9219" name="Content Placeholder 2">
            <a:extLst>
              <a:ext uri="{FF2B5EF4-FFF2-40B4-BE49-F238E27FC236}">
                <a16:creationId xmlns:a16="http://schemas.microsoft.com/office/drawing/2014/main" id="{BD3C57CB-15F1-6A65-7A18-9FCD81F0EEC4}"/>
              </a:ext>
            </a:extLst>
          </p:cNvPr>
          <p:cNvSpPr>
            <a:spLocks noGrp="1"/>
          </p:cNvSpPr>
          <p:nvPr>
            <p:ph idx="1"/>
          </p:nvPr>
        </p:nvSpPr>
        <p:spPr>
          <a:xfrm>
            <a:off x="1465845" y="1148248"/>
            <a:ext cx="7952209" cy="4600090"/>
          </a:xfrm>
        </p:spPr>
        <p:txBody>
          <a:bodyPr vert="horz" wrap="square" lIns="91440" tIns="45720" rIns="91440" bIns="45720" anchor="t" anchorCtr="0"/>
          <a:lstStyle/>
          <a:p>
            <a:pPr marL="0" indent="0" algn="ctr">
              <a:buNone/>
            </a:pPr>
            <a:endParaRPr lang="en-IN" sz="2800" b="1" dirty="0">
              <a:latin typeface="Times New Roman" panose="02020603050405020304" pitchFamily="18" charset="0"/>
              <a:cs typeface="Times New Roman" panose="02020603050405020304" pitchFamily="18" charset="0"/>
            </a:endParaRPr>
          </a:p>
          <a:p>
            <a:pPr marL="0" indent="0" algn="ctr">
              <a:buNone/>
            </a:pPr>
            <a:endParaRPr lang="en-IN" b="1" dirty="0">
              <a:latin typeface="Times New Roman" panose="02020603050405020304" pitchFamily="18" charset="0"/>
              <a:cs typeface="Times New Roman" panose="02020603050405020304" pitchFamily="18" charset="0"/>
            </a:endParaRPr>
          </a:p>
          <a:p>
            <a:pPr marL="0" indent="0" algn="ctr">
              <a:buNone/>
            </a:pPr>
            <a:endParaRPr lang="en-IN" sz="2800" b="1" dirty="0">
              <a:latin typeface="Times New Roman" panose="02020603050405020304" pitchFamily="18" charset="0"/>
              <a:cs typeface="Times New Roman" panose="02020603050405020304" pitchFamily="18" charset="0"/>
            </a:endParaRPr>
          </a:p>
          <a:p>
            <a:pPr marL="0" indent="0" algn="ctr">
              <a:buNone/>
            </a:pPr>
            <a:r>
              <a:rPr lang="en-IN" sz="5400" b="1" dirty="0">
                <a:latin typeface="Times New Roman" panose="02020603050405020304" pitchFamily="18" charset="0"/>
                <a:cs typeface="Times New Roman" panose="02020603050405020304" pitchFamily="18" charset="0"/>
              </a:rPr>
              <a:t>Thank You…</a:t>
            </a:r>
          </a:p>
          <a:p>
            <a:pPr marL="0" indent="0" algn="ctr">
              <a:buNone/>
            </a:pPr>
            <a:endParaRPr lang="en-IN" sz="4000" b="1" dirty="0">
              <a:latin typeface="Times New Roman" panose="02020603050405020304" pitchFamily="18" charset="0"/>
              <a:cs typeface="Times New Roman" panose="02020603050405020304" pitchFamily="18" charset="0"/>
            </a:endParaRPr>
          </a:p>
          <a:p>
            <a:pPr marL="0" lvl="0" indent="0" algn="ctr" eaLnBrk="1" hangingPunct="1">
              <a:lnSpc>
                <a:spcPct val="50000"/>
              </a:lnSpc>
              <a:buNone/>
              <a:defRPr/>
            </a:pPr>
            <a:endParaRPr lang="en-IN" dirty="0"/>
          </a:p>
        </p:txBody>
      </p:sp>
      <p:sp>
        <p:nvSpPr>
          <p:cNvPr id="9220" name="Slide Number Placeholder 1">
            <a:extLst>
              <a:ext uri="{FF2B5EF4-FFF2-40B4-BE49-F238E27FC236}">
                <a16:creationId xmlns:a16="http://schemas.microsoft.com/office/drawing/2014/main" id="{62AF3B6F-7D7A-D124-482A-0C999CA5DF46}"/>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18</a:t>
            </a:fld>
            <a:endParaRPr lang="en-IN" altLang="en-US" sz="1200" b="1" dirty="0">
              <a:solidFill>
                <a:srgbClr val="C00000"/>
              </a:solidFill>
            </a:endParaRPr>
          </a:p>
        </p:txBody>
      </p:sp>
      <p:pic>
        <p:nvPicPr>
          <p:cNvPr id="9221" name="Picture 5">
            <a:extLst>
              <a:ext uri="{FF2B5EF4-FFF2-40B4-BE49-F238E27FC236}">
                <a16:creationId xmlns:a16="http://schemas.microsoft.com/office/drawing/2014/main" id="{FDD0F5B1-E5A1-69EE-E118-E84BE64ABD6F}"/>
              </a:ext>
            </a:extLst>
          </p:cNvPr>
          <p:cNvPicPr/>
          <p:nvPr/>
        </p:nvPicPr>
        <p:blipFill>
          <a:blip r:embed="rId2"/>
          <a:stretch>
            <a:fillRect/>
          </a:stretch>
        </p:blipFill>
        <p:spPr>
          <a:xfrm>
            <a:off x="11299825" y="0"/>
            <a:ext cx="901700" cy="993775"/>
          </a:xfrm>
          <a:prstGeom prst="rect">
            <a:avLst/>
          </a:prstGeom>
          <a:noFill/>
          <a:ln w="9525">
            <a:noFill/>
          </a:ln>
        </p:spPr>
      </p:pic>
      <p:pic>
        <p:nvPicPr>
          <p:cNvPr id="9222" name="Picture 5">
            <a:extLst>
              <a:ext uri="{FF2B5EF4-FFF2-40B4-BE49-F238E27FC236}">
                <a16:creationId xmlns:a16="http://schemas.microsoft.com/office/drawing/2014/main" id="{54657D99-A164-6AB5-5C64-87471DFC0283}"/>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973D26A9-C235-1057-B013-046DA536A5E3}"/>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D1657B1A-E4F2-F5EC-055E-2EDFE443F109}"/>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9225" name="Picture 5">
            <a:extLst>
              <a:ext uri="{FF2B5EF4-FFF2-40B4-BE49-F238E27FC236}">
                <a16:creationId xmlns:a16="http://schemas.microsoft.com/office/drawing/2014/main" id="{F603432A-3F79-F945-CED3-C31ECBE57D8A}"/>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3C96015E-0C36-9594-C60B-DF9FB589A6D1}"/>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 Sem | Dept of Computational Intelligence| </a:t>
            </a:r>
            <a:r>
              <a:rPr lang="en-IN" sz="1600" b="1" dirty="0">
                <a:solidFill>
                  <a:schemeClr val="tx1"/>
                </a:solidFill>
                <a:latin typeface="Arial Rounded MT Bold" pitchFamily="34" charset="0"/>
              </a:rPr>
              <a:t>Project Phase - I | </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Project Review</a:t>
            </a:r>
          </a:p>
        </p:txBody>
      </p:sp>
      <p:sp>
        <p:nvSpPr>
          <p:cNvPr id="6" name="TextBox 5">
            <a:extLst>
              <a:ext uri="{FF2B5EF4-FFF2-40B4-BE49-F238E27FC236}">
                <a16:creationId xmlns:a16="http://schemas.microsoft.com/office/drawing/2014/main" id="{74978BBF-3144-A0FC-A84D-B7AB85200277}"/>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aa-ET" sz="1600" b="1" dirty="0">
              <a:latin typeface="Arial Rounded MT Bold" panose="020F0704030504030204" pitchFamily="34" charset="0"/>
              <a:cs typeface="Arial" panose="020B0604020202020204" pitchFamily="34" charset="0"/>
            </a:endParaRPr>
          </a:p>
        </p:txBody>
      </p:sp>
    </p:spTree>
    <p:extLst>
      <p:ext uri="{BB962C8B-B14F-4D97-AF65-F5344CB8AC3E}">
        <p14:creationId xmlns:p14="http://schemas.microsoft.com/office/powerpoint/2010/main" val="20084132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725</TotalTime>
  <Words>1030</Words>
  <Application>Microsoft Office PowerPoint</Application>
  <PresentationFormat>Widescreen</PresentationFormat>
  <Paragraphs>115</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Arial Rounded MT Bold</vt:lpstr>
      <vt:lpstr>Calibri</vt:lpstr>
      <vt:lpstr>Calibri Light</vt:lpstr>
      <vt:lpstr>Times New Roman</vt:lpstr>
      <vt:lpstr>Office Theme</vt:lpstr>
      <vt:lpstr>MALLA REDDY COLLEGE OF ENGINEERING &amp; TECHNOLOGY (AUTONOMUS INSTITUTION –UGC, GOVT. OF INDIA) Affiliated to JNTUH; Approved by AICTE, NBA-Tier 1 &amp; NAAC with A-GRADE| ISO 9001:2015</vt:lpstr>
      <vt:lpstr>Agenda</vt:lpstr>
      <vt:lpstr>Abstract</vt:lpstr>
      <vt:lpstr>Introduction</vt:lpstr>
      <vt:lpstr>Existing System</vt:lpstr>
      <vt:lpstr>Drawbacks of Existing System</vt:lpstr>
      <vt:lpstr>Proposed System</vt:lpstr>
      <vt:lpstr>Advantages of Proposed System</vt:lpstr>
      <vt:lpstr>System Requirements</vt:lpstr>
      <vt:lpstr>PowerPoint Presentation</vt:lpstr>
      <vt:lpstr>Hardware Requirements</vt:lpstr>
      <vt:lpstr>             UML DIAGRAMS</vt:lpstr>
      <vt:lpstr>Use Case Diagram</vt:lpstr>
      <vt:lpstr>Activity Diagram</vt:lpstr>
      <vt:lpstr>Data Flow Diagram</vt:lpstr>
      <vt:lpstr>Sequence Diagram</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V Kamal</dc:creator>
  <cp:lastModifiedBy>purna harini</cp:lastModifiedBy>
  <cp:revision>84</cp:revision>
  <dcterms:created xsi:type="dcterms:W3CDTF">2022-09-15T14:17:00Z</dcterms:created>
  <dcterms:modified xsi:type="dcterms:W3CDTF">2026-04-08T06:46:03Z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1F789172D32144BE91813DACD04A54D5_12</vt:lpwstr>
  </property>
  <property fmtid="{D5CDD505-2E9C-101B-9397-08002B2CF9AE}" pid="3" name="KSOProductBuildVer">
    <vt:lpwstr>1033-12.2.0.19805</vt:lpwstr>
  </property>
</Properties>
</file>